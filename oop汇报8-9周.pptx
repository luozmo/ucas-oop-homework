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这份详细版沿用 report0 的章节顺序：背景与目标、模块级分析、核心流程、高级设计意图、扩展点、测试与验收、实施计划、参考资料。</a:t>
            </a:r>
          </a:p>
          <a:p>
            <a:r>
              <a:t>四个优化计划统一表述为 ChampSim 的扩展点，不按实现进度划分。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先讲系统结构和工作流，再进入四个扩展点。</a:t>
            </a:r>
          </a:p>
          <a:p>
            <a:r>
              <a:t>最后用测试、验收、风险和计划说明设计如何落地。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背景部分强调 ChampSim 的研究用途，以及结果解释和实验流程的重要性。</a:t>
            </a:r>
          </a:p>
          <a:p>
            <a:r>
              <a:t>目标不是改变 CPU 或缓存模型，而是在核心外增加观测、实验和分析能力。</a:t>
            </a:r>
          </a:p>
          <a:p>
            <a:r>
              <a:t>成功标准同时覆盖接口兼容、模块化、可追踪和可复现。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这一页按对象说明职责：输入、CPU、缓存和地址翻译、内存、channel、统计与输出。</a:t>
            </a:r>
          </a:p>
          <a:p>
            <a:r>
              <a:t>表格第三列直接标出每个对象与四个扩展点的关系。</a:t>
            </a:r>
          </a:p>
          <a:p>
            <a:r>
              <a:t>结构依据：Project/inc/ooo_cpu.h、cache.h、channel.h、phase_info.h、stats_printer.h。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模块之间不是直接调用，而是通过 channel 的队列连接。</a:t>
            </a:r>
          </a:p>
          <a:p>
            <a:r>
              <a:t>请求沿 lower_level 向下，响应通过 returned 回到上层。</a:t>
            </a:r>
          </a:p>
          <a:p>
            <a:r>
              <a:t>这也是预取、miss 和延迟指标能够按层级采集的基础。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主流程分为初始化、主循环和阶段收尾。</a:t>
            </a:r>
          </a:p>
          <a:p>
            <a:r>
              <a:t>每个周期都由 operable::operate_on 统一驱动，CPU、缓存、PTW 和 DRAM 不需要由上层分别调用。</a:t>
            </a:r>
          </a:p>
          <a:p>
            <a:r>
              <a:t>阶段边界决定了 warmup、ROI 和统计快照的范围。</a:t>
            </a:r>
          </a:p>
          <a:p>
            <a:r>
              <a:t>结构依据：Project/inc/operable.h、Project/inc/ooo_cpu.h、Project/src/ooo_cpu.cc。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每个模块保留自己的 sim_stats 和 roi_stats，阶段边界负责切分快照。</a:t>
            </a:r>
          </a:p>
          <a:p>
            <a:r>
              <a:t>plain_printer 和 json_printer 解决的是呈现，而不是指标语义。</a:t>
            </a:r>
          </a:p>
          <a:p>
            <a:r>
              <a:t>结构化指标接在 phase_stats 之后，把结果写成统一记录。</a:t>
            </a:r>
          </a:p>
          <a:p>
            <a:r>
              <a:t>结构依据：Project/inc/phase_info.h、Project/inc/stats_printer.h、Project/src/phase_metric_extractor.cc。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扩展点 1 是同一个 Cache 层级内的多预取器 ensemble：next_line、spp_dev、ip_stride 同时工作。</a:t>
            </a:r>
          </a:p>
          <a:p>
            <a:r>
              <a:t>每个预取器只产生 PrefetchCandidate，仲裁器负责去重、预算和选择，再把请求送入 L2C 预取队列。</a:t>
            </a:r>
          </a:p>
          <a:p>
            <a:r>
              <a:t>这样可以研究不同预取器的互补性，以及 IPC、覆盖率、流量和队列压力之间的权衡。</a:t>
            </a:r>
          </a:p>
          <a:p>
            <a:r>
              <a:t>RTL 视角只保留小表项、计数器和固定预算逻辑；面积开销作为独立评估维度。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扩展点 2 是结构化指标：把指标定义、观测记录和输出格式分开。</a:t>
            </a:r>
          </a:p>
          <a:p>
            <a:r>
              <a:t>Definition 描述指标语义，Record 描述一次观测，Registry 和 Calculator 负责管理和派生。</a:t>
            </a:r>
          </a:p>
          <a:p>
            <a:r>
              <a:t>多个预取器的贡献通过 prefetcher_id 等 dimensions 记录，不需要为每个预取器写私有格式。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实验扩展把“跑哪些组合”与“怎么跑”分开。</a:t>
            </a:r>
          </a:p>
          <a:p>
            <a:r>
              <a:t>RunMatrix 负责展开组合，WorkerPool 负责并发和资源控制，RunStore 负责保存产物。</a:t>
            </a:r>
          </a:p>
          <a:p>
            <a:r>
              <a:t>每个 run 必须有独立进程和唯一 run_id，失败也要留下可重跑的记录。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自动比较先对齐运行上下文，再计算差异。</a:t>
            </a:r>
          </a:p>
          <a:p>
            <a:r>
              <a:t>比较结果可以生成对比表、图表、差异摘要和报告。</a:t>
            </a:r>
          </a:p>
          <a:p>
            <a:r>
              <a:t>所有产物都来自同一份结构化记录，减少手工复制和截图带来的不可复现问题。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四个扩展点通过 run_id 与 metric_id 组合。</a:t>
            </a:r>
          </a:p>
          <a:p>
            <a:r>
              <a:t>PrefetchArbiter 接收多个预取器的候选请求，输出被选中的预取请求。</a:t>
            </a:r>
          </a:p>
          <a:p>
            <a:r>
              <a:t>每个候选保留 prefetcher_id，结构化指标才能记录每个预取器的贡献。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测试策略覆盖对象边界、集成流程和结果复现。</a:t>
            </a:r>
          </a:p>
          <a:p>
            <a:r>
              <a:t>仲裁器需要测试去重、预算、轮转和候选丢弃；结构化指标验证定义与序列化。</a:t>
            </a:r>
          </a:p>
          <a:p>
            <a:r>
              <a:t>并行实验验证组合完整性和失败产物保留，报告验证重复生成的一致性。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验收标准覆盖核心兼容、指标语义、多预取器仲裁、并行产物和报告复现。</a:t>
            </a:r>
          </a:p>
          <a:p>
            <a:r>
              <a:t>主要风险是仲裁冲突、观测开销、资源争用、schema 漂移和数据不可比。</a:t>
            </a:r>
          </a:p>
          <a:p>
            <a:r>
              <a:t>RTL 面积和时序作为额外的设计评估维度。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实施计划按依赖关系推进：代码定位、多预取器仲裁、指标模型、并行实验和自动报告。</a:t>
            </a:r>
          </a:p>
          <a:p>
            <a:r>
              <a:t>每个阶段都对应可独立验收的交付物。</a:t>
            </a:r>
          </a:p>
          <a:p>
            <a:r>
              <a:t>最后通过集成测试把四个扩展点串成工具链。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cover-eyebrow"/>
          <p:cNvSpPr>
            <a:spLocks noGrp="1"/>
          </p:cNvSpPr>
          <p:nvPr/>
        </p:nvSpPr>
        <p:spPr>
          <a:xfrm>
            <a:off x="800100" y="66675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1E2A3D"/>
          </a:solidFill>
          <a:ln w="0">
            <a:solidFill>
              <a:srgbClr val="1E2A3D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系统分析与设计报告</a:t>
            </a:r>
            <a:endParaRPr sz="900" b="1">
              <a:solidFill>
                <a:srgbClr val="FDBA7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cover-title"/>
          <p:cNvSpPr>
            <a:spLocks noGrp="1"/>
          </p:cNvSpPr>
          <p:nvPr/>
        </p:nvSpPr>
        <p:spPr>
          <a:xfrm>
            <a:off x="800100" y="123825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7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</a:t>
            </a:r>
            <a:endParaRPr sz="37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800100" y="2152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面向微架构研究的观测、实验与自动分析</a:t>
            </a:r>
            <a:endParaRPr sz="1875" b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cover-flow-0"/>
          <p:cNvSpPr>
            <a:spLocks noGrp="1"/>
          </p:cNvSpPr>
          <p:nvPr/>
        </p:nvSpPr>
        <p:spPr>
          <a:xfrm>
            <a:off x="800100" y="4210050"/>
            <a:ext cx="2190750" cy="857250"/>
          </a:xfrm>
          <a:prstGeom prst="roundRect">
            <a:avLst>
              <a:gd name="adj" fmla="val 17778"/>
            </a:avLst>
          </a:prstGeom>
          <a:solidFill>
            <a:srgbClr val="14243A"/>
          </a:solidFill>
          <a:ln w="9525">
            <a:solidFill>
              <a:srgbClr val="243449"/>
            </a:solidFill>
            <a:prstDash val="solid"/>
          </a:ln>
        </p:spPr>
      </p:sp>
      <p:sp>
        <p:nvSpPr>
          <p:cNvPr id="6" name="cover-num-0"/>
          <p:cNvSpPr>
            <a:spLocks noGrp="1"/>
          </p:cNvSpPr>
          <p:nvPr/>
        </p:nvSpPr>
        <p:spPr>
          <a:xfrm>
            <a:off x="990600" y="43624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975" b="1">
              <a:solidFill>
                <a:srgbClr val="FDB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cover-label-0"/>
          <p:cNvSpPr>
            <a:spLocks noGrp="1"/>
          </p:cNvSpPr>
          <p:nvPr/>
        </p:nvSpPr>
        <p:spPr>
          <a:xfrm>
            <a:off x="990600" y="4629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背景与目标</a:t>
            </a:r>
            <a:endParaRPr sz="1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cover-flow-1"/>
          <p:cNvSpPr>
            <a:spLocks noGrp="1"/>
          </p:cNvSpPr>
          <p:nvPr/>
        </p:nvSpPr>
        <p:spPr>
          <a:xfrm>
            <a:off x="3486150" y="4210050"/>
            <a:ext cx="2190750" cy="857250"/>
          </a:xfrm>
          <a:prstGeom prst="roundRect">
            <a:avLst>
              <a:gd name="adj" fmla="val 17778"/>
            </a:avLst>
          </a:prstGeom>
          <a:solidFill>
            <a:srgbClr val="14243A"/>
          </a:solidFill>
          <a:ln w="9525">
            <a:solidFill>
              <a:srgbClr val="243449"/>
            </a:solidFill>
            <a:prstDash val="solid"/>
          </a:ln>
        </p:spPr>
      </p:sp>
      <p:sp>
        <p:nvSpPr>
          <p:cNvPr id="9" name="cover-num-1"/>
          <p:cNvSpPr>
            <a:spLocks noGrp="1"/>
          </p:cNvSpPr>
          <p:nvPr/>
        </p:nvSpPr>
        <p:spPr>
          <a:xfrm>
            <a:off x="3676650" y="43624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975" b="1">
              <a:solidFill>
                <a:srgbClr val="FDB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cover-label-1"/>
          <p:cNvSpPr>
            <a:spLocks noGrp="1"/>
          </p:cNvSpPr>
          <p:nvPr/>
        </p:nvSpPr>
        <p:spPr>
          <a:xfrm>
            <a:off x="3676650" y="4629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模块与流程</a:t>
            </a:r>
            <a:endParaRPr sz="1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cover-flow-2"/>
          <p:cNvSpPr>
            <a:spLocks noGrp="1"/>
          </p:cNvSpPr>
          <p:nvPr/>
        </p:nvSpPr>
        <p:spPr>
          <a:xfrm>
            <a:off x="6172200" y="4210050"/>
            <a:ext cx="2190750" cy="857250"/>
          </a:xfrm>
          <a:prstGeom prst="roundRect">
            <a:avLst>
              <a:gd name="adj" fmla="val 17778"/>
            </a:avLst>
          </a:prstGeom>
          <a:solidFill>
            <a:srgbClr val="14243A"/>
          </a:solidFill>
          <a:ln w="9525">
            <a:solidFill>
              <a:srgbClr val="243449"/>
            </a:solidFill>
            <a:prstDash val="solid"/>
          </a:ln>
        </p:spPr>
      </p:sp>
      <p:sp>
        <p:nvSpPr>
          <p:cNvPr id="12" name="cover-num-2"/>
          <p:cNvSpPr>
            <a:spLocks noGrp="1"/>
          </p:cNvSpPr>
          <p:nvPr/>
        </p:nvSpPr>
        <p:spPr>
          <a:xfrm>
            <a:off x="6362700" y="43624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975" b="1">
              <a:solidFill>
                <a:srgbClr val="FDB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ver-label-2"/>
          <p:cNvSpPr>
            <a:spLocks noGrp="1"/>
          </p:cNvSpPr>
          <p:nvPr/>
        </p:nvSpPr>
        <p:spPr>
          <a:xfrm>
            <a:off x="6362700" y="4629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1-4</a:t>
            </a:r>
            <a:endParaRPr sz="1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cover-flow-3"/>
          <p:cNvSpPr>
            <a:spLocks noGrp="1"/>
          </p:cNvSpPr>
          <p:nvPr/>
        </p:nvSpPr>
        <p:spPr>
          <a:xfrm>
            <a:off x="8858250" y="4210050"/>
            <a:ext cx="2190750" cy="857250"/>
          </a:xfrm>
          <a:prstGeom prst="roundRect">
            <a:avLst>
              <a:gd name="adj" fmla="val 17778"/>
            </a:avLst>
          </a:prstGeom>
          <a:solidFill>
            <a:srgbClr val="14243A"/>
          </a:solidFill>
          <a:ln w="9525">
            <a:solidFill>
              <a:srgbClr val="243449"/>
            </a:solidFill>
            <a:prstDash val="solid"/>
          </a:ln>
        </p:spPr>
      </p:sp>
      <p:sp>
        <p:nvSpPr>
          <p:cNvPr id="15" name="cover-num-3"/>
          <p:cNvSpPr>
            <a:spLocks noGrp="1"/>
          </p:cNvSpPr>
          <p:nvPr/>
        </p:nvSpPr>
        <p:spPr>
          <a:xfrm>
            <a:off x="9048750" y="43624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975" b="1">
              <a:solidFill>
                <a:srgbClr val="FDB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ver-label-3"/>
          <p:cNvSpPr>
            <a:spLocks noGrp="1"/>
          </p:cNvSpPr>
          <p:nvPr/>
        </p:nvSpPr>
        <p:spPr>
          <a:xfrm>
            <a:off x="9048750" y="4629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验收与计划</a:t>
            </a:r>
            <a:endParaRPr sz="1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cover-foot"/>
          <p:cNvSpPr>
            <a:spLocks noGrp="1"/>
          </p:cNvSpPr>
          <p:nvPr/>
        </p:nvSpPr>
        <p:spPr>
          <a:xfrm>
            <a:off x="800100" y="60198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 8/9 周课堂研讨  ·  参考 report0 的分析与设计结构</a:t>
            </a:r>
            <a:endParaRPr sz="97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2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目录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2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报告结构：从系统分析走到可验收的扩展设计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2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2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genda-card-0-0"/>
          <p:cNvSpPr>
            <a:spLocks noGrp="1"/>
          </p:cNvSpPr>
          <p:nvPr/>
        </p:nvSpPr>
        <p:spPr>
          <a:xfrm>
            <a:off x="685800" y="18097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agenda-badge-0-0"/>
          <p:cNvSpPr>
            <a:spLocks noGrp="1"/>
          </p:cNvSpPr>
          <p:nvPr/>
        </p:nvSpPr>
        <p:spPr>
          <a:xfrm>
            <a:off x="876300" y="20193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genda-title-0-0"/>
          <p:cNvSpPr>
            <a:spLocks noGrp="1"/>
          </p:cNvSpPr>
          <p:nvPr/>
        </p:nvSpPr>
        <p:spPr>
          <a:xfrm>
            <a:off x="1428750" y="19621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项目背景与目标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genda-body-0-0"/>
          <p:cNvSpPr>
            <a:spLocks noGrp="1"/>
          </p:cNvSpPr>
          <p:nvPr/>
        </p:nvSpPr>
        <p:spPr>
          <a:xfrm>
            <a:off x="1428750" y="2247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研究场景、目标、约束与成功衡量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genda-card-0-1"/>
          <p:cNvSpPr>
            <a:spLocks noGrp="1"/>
          </p:cNvSpPr>
          <p:nvPr/>
        </p:nvSpPr>
        <p:spPr>
          <a:xfrm>
            <a:off x="685800" y="28384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agenda-badge-0-1"/>
          <p:cNvSpPr>
            <a:spLocks noGrp="1"/>
          </p:cNvSpPr>
          <p:nvPr/>
        </p:nvSpPr>
        <p:spPr>
          <a:xfrm>
            <a:off x="876300" y="30480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genda-title-0-1"/>
          <p:cNvSpPr>
            <a:spLocks noGrp="1"/>
          </p:cNvSpPr>
          <p:nvPr/>
        </p:nvSpPr>
        <p:spPr>
          <a:xfrm>
            <a:off x="1428750" y="29908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模块级分析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genda-body-0-1"/>
          <p:cNvSpPr>
            <a:spLocks noGrp="1"/>
          </p:cNvSpPr>
          <p:nvPr/>
        </p:nvSpPr>
        <p:spPr>
          <a:xfrm>
            <a:off x="1428750" y="32766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核心对象、职责与模块连接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genda-card-0-2"/>
          <p:cNvSpPr>
            <a:spLocks noGrp="1"/>
          </p:cNvSpPr>
          <p:nvPr/>
        </p:nvSpPr>
        <p:spPr>
          <a:xfrm>
            <a:off x="685800" y="38671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agenda-badge-0-2"/>
          <p:cNvSpPr>
            <a:spLocks noGrp="1"/>
          </p:cNvSpPr>
          <p:nvPr/>
        </p:nvSpPr>
        <p:spPr>
          <a:xfrm>
            <a:off x="876300" y="40767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genda-title-0-2"/>
          <p:cNvSpPr>
            <a:spLocks noGrp="1"/>
          </p:cNvSpPr>
          <p:nvPr/>
        </p:nvSpPr>
        <p:spPr>
          <a:xfrm>
            <a:off x="1428750" y="40195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核心流程设计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genda-body-0-2"/>
          <p:cNvSpPr>
            <a:spLocks noGrp="1"/>
          </p:cNvSpPr>
          <p:nvPr/>
        </p:nvSpPr>
        <p:spPr>
          <a:xfrm>
            <a:off x="1428750" y="4305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仿真主循环、阶段统计与输出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genda-card-0-3"/>
          <p:cNvSpPr>
            <a:spLocks noGrp="1"/>
          </p:cNvSpPr>
          <p:nvPr/>
        </p:nvSpPr>
        <p:spPr>
          <a:xfrm>
            <a:off x="685800" y="48958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agenda-badge-0-3"/>
          <p:cNvSpPr>
            <a:spLocks noGrp="1"/>
          </p:cNvSpPr>
          <p:nvPr/>
        </p:nvSpPr>
        <p:spPr>
          <a:xfrm>
            <a:off x="876300" y="51054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genda-title-0-3"/>
          <p:cNvSpPr>
            <a:spLocks noGrp="1"/>
          </p:cNvSpPr>
          <p:nvPr/>
        </p:nvSpPr>
        <p:spPr>
          <a:xfrm>
            <a:off x="1428750" y="50482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1-4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genda-body-0-3"/>
          <p:cNvSpPr>
            <a:spLocks noGrp="1"/>
          </p:cNvSpPr>
          <p:nvPr/>
        </p:nvSpPr>
        <p:spPr>
          <a:xfrm>
            <a:off x="1428750" y="53340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多预取器组合、指标、并行实验、自动报告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agenda-card-1-1"/>
          <p:cNvSpPr>
            <a:spLocks noGrp="1"/>
          </p:cNvSpPr>
          <p:nvPr/>
        </p:nvSpPr>
        <p:spPr>
          <a:xfrm>
            <a:off x="6286500" y="18097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agenda-badge-1-1"/>
          <p:cNvSpPr>
            <a:spLocks noGrp="1"/>
          </p:cNvSpPr>
          <p:nvPr/>
        </p:nvSpPr>
        <p:spPr>
          <a:xfrm>
            <a:off x="6477000" y="20193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9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agenda-title-1-1"/>
          <p:cNvSpPr>
            <a:spLocks noGrp="1"/>
          </p:cNvSpPr>
          <p:nvPr/>
        </p:nvSpPr>
        <p:spPr>
          <a:xfrm>
            <a:off x="7029450" y="19621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测试、验收标准与风险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genda-body-1-1"/>
          <p:cNvSpPr>
            <a:spLocks noGrp="1"/>
          </p:cNvSpPr>
          <p:nvPr/>
        </p:nvSpPr>
        <p:spPr>
          <a:xfrm>
            <a:off x="7029450" y="2247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边界、集成、可复现与风险应对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genda-card-1-2"/>
          <p:cNvSpPr>
            <a:spLocks noGrp="1"/>
          </p:cNvSpPr>
          <p:nvPr/>
        </p:nvSpPr>
        <p:spPr>
          <a:xfrm>
            <a:off x="6286500" y="28384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agenda-badge-1-2"/>
          <p:cNvSpPr>
            <a:spLocks noGrp="1"/>
          </p:cNvSpPr>
          <p:nvPr/>
        </p:nvSpPr>
        <p:spPr>
          <a:xfrm>
            <a:off x="6477000" y="30480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9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agenda-title-1-2"/>
          <p:cNvSpPr>
            <a:spLocks noGrp="1"/>
          </p:cNvSpPr>
          <p:nvPr/>
        </p:nvSpPr>
        <p:spPr>
          <a:xfrm>
            <a:off x="7029450" y="29908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实施计划与交付物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agenda-body-1-2"/>
          <p:cNvSpPr>
            <a:spLocks noGrp="1"/>
          </p:cNvSpPr>
          <p:nvPr/>
        </p:nvSpPr>
        <p:spPr>
          <a:xfrm>
            <a:off x="7029450" y="32766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按依赖关系拆成五个阶段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agenda-card-1-3"/>
          <p:cNvSpPr>
            <a:spLocks noGrp="1"/>
          </p:cNvSpPr>
          <p:nvPr/>
        </p:nvSpPr>
        <p:spPr>
          <a:xfrm>
            <a:off x="6286500" y="386715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agenda-badge-1-3"/>
          <p:cNvSpPr>
            <a:spLocks noGrp="1"/>
          </p:cNvSpPr>
          <p:nvPr/>
        </p:nvSpPr>
        <p:spPr>
          <a:xfrm>
            <a:off x="6477000" y="407670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9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agenda-title-1-3"/>
          <p:cNvSpPr>
            <a:spLocks noGrp="1"/>
          </p:cNvSpPr>
          <p:nvPr/>
        </p:nvSpPr>
        <p:spPr>
          <a:xfrm>
            <a:off x="7029450" y="40195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参考资料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agenda-body-1-3"/>
          <p:cNvSpPr>
            <a:spLocks noGrp="1"/>
          </p:cNvSpPr>
          <p:nvPr/>
        </p:nvSpPr>
        <p:spPr>
          <a:xfrm>
            <a:off x="7029450" y="4305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1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课程报告与 ChampSim 源码入口</a:t>
            </a:r>
            <a:endParaRPr sz="101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agenda-callout"/>
          <p:cNvSpPr>
            <a:spLocks noGrp="1"/>
          </p:cNvSpPr>
          <p:nvPr/>
        </p:nvSpPr>
        <p:spPr>
          <a:xfrm>
            <a:off x="685800" y="58864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前半部分回答“系统怎么工作”，后半部分回答“扩展为什么这样划分对象”。</a:t>
            </a:r>
            <a:endParaRPr sz="1200" b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3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· 项目背景与目标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3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项目背景与目标：在稳定的仿真核心外增加研究工具层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3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3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bg-card"/>
          <p:cNvSpPr>
            <a:spLocks noGrp="1"/>
          </p:cNvSpPr>
          <p:nvPr/>
        </p:nvSpPr>
        <p:spPr>
          <a:xfrm>
            <a:off x="685800" y="1809750"/>
            <a:ext cx="5238750" cy="20002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bg-title"/>
          <p:cNvSpPr>
            <a:spLocks noGrp="1"/>
          </p:cNvSpPr>
          <p:nvPr/>
        </p:nvSpPr>
        <p:spPr>
          <a:xfrm>
            <a:off x="914400" y="20193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研究背景</a:t>
            </a:r>
            <a:endParaRPr sz="1500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bg-items"/>
          <p:cNvSpPr>
            <a:spLocks noGrp="1"/>
          </p:cNvSpPr>
          <p:nvPr/>
        </p:nvSpPr>
        <p:spPr>
          <a:xfrm>
            <a:off x="914400" y="2419350"/>
            <a:ext cx="476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10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用 trace 驱动逐周期微架构仿真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研究者需要比较多组缓存、预取器和内存设计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结论同时依赖仿真数据和实验流程本身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goal-card"/>
          <p:cNvSpPr>
            <a:spLocks noGrp="1"/>
          </p:cNvSpPr>
          <p:nvPr/>
        </p:nvSpPr>
        <p:spPr>
          <a:xfrm>
            <a:off x="6267450" y="1809750"/>
            <a:ext cx="5238750" cy="20002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goal-title"/>
          <p:cNvSpPr>
            <a:spLocks noGrp="1"/>
          </p:cNvSpPr>
          <p:nvPr/>
        </p:nvSpPr>
        <p:spPr>
          <a:xfrm>
            <a:off x="6496050" y="20193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项目目标</a:t>
            </a:r>
            <a:endParaRPr sz="1500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goal-items"/>
          <p:cNvSpPr>
            <a:spLocks noGrp="1"/>
          </p:cNvSpPr>
          <p:nvPr/>
        </p:nvSpPr>
        <p:spPr>
          <a:xfrm>
            <a:off x="6496050" y="2419350"/>
            <a:ext cx="476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建立统一的结果观测与指标记录模型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支持多预取器组合与受限仲裁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支持多预取器、多 trace 的并行实验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把比较、图表和报告变成可重复流程</a:t>
            </a:r>
            <a:endParaRPr sz="120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constraint-card"/>
          <p:cNvSpPr>
            <a:spLocks noGrp="1"/>
          </p:cNvSpPr>
          <p:nvPr/>
        </p:nvSpPr>
        <p:spPr>
          <a:xfrm>
            <a:off x="685800" y="4038600"/>
            <a:ext cx="10820400" cy="1714500"/>
          </a:xfrm>
          <a:prstGeom prst="roundRect">
            <a:avLst>
              <a:gd name="adj" fmla="val 13333"/>
            </a:avLst>
          </a:prstGeom>
          <a:solidFill>
            <a:srgbClr val="14243A"/>
          </a:solidFill>
          <a:ln w="9525">
            <a:solidFill>
              <a:srgbClr val="14243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constraint-title"/>
          <p:cNvSpPr>
            <a:spLocks noGrp="1"/>
          </p:cNvSpPr>
          <p:nvPr/>
        </p:nvSpPr>
        <p:spPr>
          <a:xfrm>
            <a:off x="914400" y="4248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约束与成功衡量</a:t>
            </a:r>
            <a:endParaRPr sz="1500" b="1">
              <a:solidFill>
                <a:srgbClr val="FDBA7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measure-title-0"/>
          <p:cNvSpPr>
            <a:spLocks noGrp="1"/>
          </p:cNvSpPr>
          <p:nvPr/>
        </p:nvSpPr>
        <p:spPr>
          <a:xfrm>
            <a:off x="914400" y="4686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接口兼容</a:t>
            </a:r>
            <a:endParaRPr sz="1050" b="1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measure-body-0"/>
          <p:cNvSpPr>
            <a:spLocks noGrp="1"/>
          </p:cNvSpPr>
          <p:nvPr/>
        </p:nvSpPr>
        <p:spPr>
          <a:xfrm>
            <a:off x="1981200" y="46863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核心命令行与原有输出不被破坏</a:t>
            </a:r>
            <a:endParaRPr sz="1050" b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measure-title-1"/>
          <p:cNvSpPr>
            <a:spLocks noGrp="1"/>
          </p:cNvSpPr>
          <p:nvPr/>
        </p:nvSpPr>
        <p:spPr>
          <a:xfrm>
            <a:off x="6134100" y="4686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模块化</a:t>
            </a:r>
            <a:endParaRPr sz="1050" b="1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measure-body-1"/>
          <p:cNvSpPr>
            <a:spLocks noGrp="1"/>
          </p:cNvSpPr>
          <p:nvPr/>
        </p:nvSpPr>
        <p:spPr>
          <a:xfrm>
            <a:off x="7200900" y="46863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扩展组件可独立测试、替换和组合</a:t>
            </a:r>
            <a:endParaRPr sz="1050" b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measure-title-2"/>
          <p:cNvSpPr>
            <a:spLocks noGrp="1"/>
          </p:cNvSpPr>
          <p:nvPr/>
        </p:nvSpPr>
        <p:spPr>
          <a:xfrm>
            <a:off x="914400" y="51244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可追踪</a:t>
            </a:r>
            <a:endParaRPr sz="1050" b="1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measure-body-2"/>
          <p:cNvSpPr>
            <a:spLocks noGrp="1"/>
          </p:cNvSpPr>
          <p:nvPr/>
        </p:nvSpPr>
        <p:spPr>
          <a:xfrm>
            <a:off x="1981200" y="51244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每次运行都有 run_id、配置和产物</a:t>
            </a:r>
            <a:endParaRPr sz="1050" b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measure-title-3"/>
          <p:cNvSpPr>
            <a:spLocks noGrp="1"/>
          </p:cNvSpPr>
          <p:nvPr/>
        </p:nvSpPr>
        <p:spPr>
          <a:xfrm>
            <a:off x="6134100" y="51244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可复现</a:t>
            </a:r>
            <a:endParaRPr sz="1050" b="1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measure-body-3"/>
          <p:cNvSpPr>
            <a:spLocks noGrp="1"/>
          </p:cNvSpPr>
          <p:nvPr/>
        </p:nvSpPr>
        <p:spPr>
          <a:xfrm>
            <a:off x="7200900" y="51244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同一实验可以重新生成相同报告</a:t>
            </a:r>
            <a:endParaRPr sz="1050" b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4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· 模块级分析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4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模块级分析：核心对象各有清晰职责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4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4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85800" y="1790700"/>
          <a:ext cx="10820400" cy="3733800"/>
        </p:xfrm>
        <a:graphic>
          <a:graphicData uri="http://schemas.openxmlformats.org/drawingml/2006/table">
            <a:tbl>
              <a:tblPr firstRow="1" bandRow="1"/>
              <a:tblGrid>
                <a:gridCol w="2000250"/>
                <a:gridCol w="4762500"/>
                <a:gridCol w="4057650"/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对象 / 模块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核心职责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与扩展点的关系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tracereader / trace_instruction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读取 trace，形成指令与访问流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提供 run 输入和 trace 身份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O3_CPU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取指、乱序执行、提交；维护 input_queue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CPU 指标；逐周期执行入口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CACHE / PTW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tag 检查、fill、预取回调、地址翻译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miss、延迟、预取时间事件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DRAM_CHANNEL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内存请求调度与延迟建模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内存带宽与延迟指标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champsim::channel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RQ / PQ / WQ / returned；连接上下级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请求与响应传递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phase_stats / printer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阶段汇总与格式输出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指标语义、单位、公式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module-note-card"/>
          <p:cNvSpPr>
            <a:spLocks noGrp="1"/>
          </p:cNvSpPr>
          <p:nvPr/>
        </p:nvSpPr>
        <p:spPr>
          <a:xfrm>
            <a:off x="685800" y="5695950"/>
            <a:ext cx="10820400" cy="457200"/>
          </a:xfrm>
          <a:prstGeom prst="roundRect">
            <a:avLst>
              <a:gd name="adj" fmla="val 33333"/>
            </a:avLst>
          </a:prstGeom>
          <a:solidFill>
            <a:srgbClr val="EAF0FF"/>
          </a:solidFill>
          <a:ln w="9525">
            <a:solidFill>
              <a:srgbClr val="EAF0FF"/>
            </a:solidFill>
            <a:prstDash val="solid"/>
          </a:ln>
        </p:spPr>
      </p:sp>
      <p:sp>
        <p:nvSpPr>
          <p:cNvPr id="8" name="module-note"/>
          <p:cNvSpPr>
            <a:spLocks noGrp="1"/>
          </p:cNvSpPr>
          <p:nvPr/>
        </p:nvSpPr>
        <p:spPr>
          <a:xfrm>
            <a:off x="914400" y="58102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模块对象负责计算，channel 负责连接，phase_stats 与 printer 负责表达结果。</a:t>
            </a:r>
            <a:endParaRPr sz="1200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5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· 模块级分析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模块级分析：channel 把模块连接成请求—响应链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5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5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conn-card-0"/>
          <p:cNvSpPr>
            <a:spLocks noGrp="1"/>
          </p:cNvSpPr>
          <p:nvPr/>
        </p:nvSpPr>
        <p:spPr>
          <a:xfrm>
            <a:off x="685800" y="1809750"/>
            <a:ext cx="40005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conn-title-0"/>
          <p:cNvSpPr>
            <a:spLocks noGrp="1"/>
          </p:cNvSpPr>
          <p:nvPr/>
        </p:nvSpPr>
        <p:spPr>
          <a:xfrm>
            <a:off x="895350" y="19431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上下级关系</a:t>
            </a:r>
            <a:endParaRPr sz="12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conn-body-0"/>
          <p:cNvSpPr>
            <a:spLocks noGrp="1"/>
          </p:cNvSpPr>
          <p:nvPr/>
        </p:nvSpPr>
        <p:spPr>
          <a:xfrm>
            <a:off x="895350" y="2228850"/>
            <a:ext cx="3562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模块持有 upper_levels 与 lower_level，形成缓存和内存层级。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conn-card-1"/>
          <p:cNvSpPr>
            <a:spLocks noGrp="1"/>
          </p:cNvSpPr>
          <p:nvPr/>
        </p:nvSpPr>
        <p:spPr>
          <a:xfrm>
            <a:off x="685800" y="2876550"/>
            <a:ext cx="40005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conn-title-1"/>
          <p:cNvSpPr>
            <a:spLocks noGrp="1"/>
          </p:cNvSpPr>
          <p:nvPr/>
        </p:nvSpPr>
        <p:spPr>
          <a:xfrm>
            <a:off x="895350" y="30099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队列与返回</a:t>
            </a:r>
            <a:endParaRPr sz="12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conn-body-1"/>
          <p:cNvSpPr>
            <a:spLocks noGrp="1"/>
          </p:cNvSpPr>
          <p:nvPr/>
        </p:nvSpPr>
        <p:spPr>
          <a:xfrm>
            <a:off x="895350" y="3295650"/>
            <a:ext cx="3562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channel 维护 RQ、PQ、WQ 和 returned，请求与响应分开传递。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conn-card-2"/>
          <p:cNvSpPr>
            <a:spLocks noGrp="1"/>
          </p:cNvSpPr>
          <p:nvPr/>
        </p:nvSpPr>
        <p:spPr>
          <a:xfrm>
            <a:off x="685800" y="3943350"/>
            <a:ext cx="40005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conn-title-2"/>
          <p:cNvSpPr>
            <a:spLocks noGrp="1"/>
          </p:cNvSpPr>
          <p:nvPr/>
        </p:nvSpPr>
        <p:spPr>
          <a:xfrm>
            <a:off x="895350" y="40767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可插拔模块</a:t>
            </a:r>
            <a:endParaRPr sz="12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conn-body-2"/>
          <p:cNvSpPr>
            <a:spLocks noGrp="1"/>
          </p:cNvSpPr>
          <p:nvPr/>
        </p:nvSpPr>
        <p:spPr>
          <a:xfrm>
            <a:off x="895350" y="4362450"/>
            <a:ext cx="3562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预取器、替换策略和 PTW 通过固定接口接入 CACHE。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conn-flow-panel"/>
          <p:cNvSpPr>
            <a:spLocks noGrp="1"/>
          </p:cNvSpPr>
          <p:nvPr/>
        </p:nvSpPr>
        <p:spPr>
          <a:xfrm>
            <a:off x="5143500" y="1809750"/>
            <a:ext cx="6362700" cy="3886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conn-flow-title"/>
          <p:cNvSpPr>
            <a:spLocks noGrp="1"/>
          </p:cNvSpPr>
          <p:nvPr/>
        </p:nvSpPr>
        <p:spPr>
          <a:xfrm>
            <a:off x="5391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访问请求路径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conn-node-0"/>
          <p:cNvSpPr>
            <a:spLocks noGrp="1"/>
          </p:cNvSpPr>
          <p:nvPr/>
        </p:nvSpPr>
        <p:spPr>
          <a:xfrm>
            <a:off x="7239000" y="241935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conn-node-label-0"/>
          <p:cNvSpPr>
            <a:spLocks noGrp="1"/>
          </p:cNvSpPr>
          <p:nvPr/>
        </p:nvSpPr>
        <p:spPr>
          <a:xfrm>
            <a:off x="7372350" y="246697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trace 文件</a:t>
            </a:r>
            <a:endParaRPr sz="11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conn-down-0"/>
          <p:cNvSpPr>
            <a:spLocks noGrp="1"/>
          </p:cNvSpPr>
          <p:nvPr/>
        </p:nvSpPr>
        <p:spPr>
          <a:xfrm>
            <a:off x="8267700" y="27527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↓</a:t>
            </a:r>
            <a:endParaRPr sz="11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conn-node-1"/>
          <p:cNvSpPr>
            <a:spLocks noGrp="1"/>
          </p:cNvSpPr>
          <p:nvPr/>
        </p:nvSpPr>
        <p:spPr>
          <a:xfrm>
            <a:off x="7239000" y="289560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conn-node-label-1"/>
          <p:cNvSpPr>
            <a:spLocks noGrp="1"/>
          </p:cNvSpPr>
          <p:nvPr/>
        </p:nvSpPr>
        <p:spPr>
          <a:xfrm>
            <a:off x="7372350" y="294322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O3_CPU</a:t>
            </a:r>
            <a:endParaRPr sz="11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conn-down-1"/>
          <p:cNvSpPr>
            <a:spLocks noGrp="1"/>
          </p:cNvSpPr>
          <p:nvPr/>
        </p:nvSpPr>
        <p:spPr>
          <a:xfrm>
            <a:off x="8267700" y="322897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↓</a:t>
            </a:r>
            <a:endParaRPr sz="11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conn-node-2"/>
          <p:cNvSpPr>
            <a:spLocks noGrp="1"/>
          </p:cNvSpPr>
          <p:nvPr/>
        </p:nvSpPr>
        <p:spPr>
          <a:xfrm>
            <a:off x="7239000" y="337185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4" name="conn-node-label-2"/>
          <p:cNvSpPr>
            <a:spLocks noGrp="1"/>
          </p:cNvSpPr>
          <p:nvPr/>
        </p:nvSpPr>
        <p:spPr>
          <a:xfrm>
            <a:off x="7372350" y="341947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L1I / L1D</a:t>
            </a:r>
            <a:endParaRPr sz="11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conn-down-2"/>
          <p:cNvSpPr>
            <a:spLocks noGrp="1"/>
          </p:cNvSpPr>
          <p:nvPr/>
        </p:nvSpPr>
        <p:spPr>
          <a:xfrm>
            <a:off x="8267700" y="37052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↓</a:t>
            </a:r>
            <a:endParaRPr sz="11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conn-node-3"/>
          <p:cNvSpPr>
            <a:spLocks noGrp="1"/>
          </p:cNvSpPr>
          <p:nvPr/>
        </p:nvSpPr>
        <p:spPr>
          <a:xfrm>
            <a:off x="7239000" y="384810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7" name="conn-node-label-3"/>
          <p:cNvSpPr>
            <a:spLocks noGrp="1"/>
          </p:cNvSpPr>
          <p:nvPr/>
        </p:nvSpPr>
        <p:spPr>
          <a:xfrm>
            <a:off x="7372350" y="389572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L2C</a:t>
            </a:r>
            <a:endParaRPr sz="11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conn-down-3"/>
          <p:cNvSpPr>
            <a:spLocks noGrp="1"/>
          </p:cNvSpPr>
          <p:nvPr/>
        </p:nvSpPr>
        <p:spPr>
          <a:xfrm>
            <a:off x="8267700" y="418147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↓</a:t>
            </a:r>
            <a:endParaRPr sz="11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conn-node-4"/>
          <p:cNvSpPr>
            <a:spLocks noGrp="1"/>
          </p:cNvSpPr>
          <p:nvPr/>
        </p:nvSpPr>
        <p:spPr>
          <a:xfrm>
            <a:off x="7239000" y="432435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0" name="conn-node-label-4"/>
          <p:cNvSpPr>
            <a:spLocks noGrp="1"/>
          </p:cNvSpPr>
          <p:nvPr/>
        </p:nvSpPr>
        <p:spPr>
          <a:xfrm>
            <a:off x="7372350" y="437197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LLC</a:t>
            </a:r>
            <a:endParaRPr sz="11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conn-down-4"/>
          <p:cNvSpPr>
            <a:spLocks noGrp="1"/>
          </p:cNvSpPr>
          <p:nvPr/>
        </p:nvSpPr>
        <p:spPr>
          <a:xfrm>
            <a:off x="8267700" y="46577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↓</a:t>
            </a:r>
            <a:endParaRPr sz="11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conn-node-5"/>
          <p:cNvSpPr>
            <a:spLocks noGrp="1"/>
          </p:cNvSpPr>
          <p:nvPr/>
        </p:nvSpPr>
        <p:spPr>
          <a:xfrm>
            <a:off x="7239000" y="4800600"/>
            <a:ext cx="2238375" cy="3429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conn-node-label-5"/>
          <p:cNvSpPr>
            <a:spLocks noGrp="1"/>
          </p:cNvSpPr>
          <p:nvPr/>
        </p:nvSpPr>
        <p:spPr>
          <a:xfrm>
            <a:off x="7372350" y="4848225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DRAM</a:t>
            </a:r>
            <a:endParaRPr sz="11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conn-direction"/>
          <p:cNvSpPr>
            <a:spLocks noGrp="1"/>
          </p:cNvSpPr>
          <p:nvPr/>
        </p:nvSpPr>
        <p:spPr>
          <a:xfrm>
            <a:off x="9620250" y="4000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request ↓    response ↑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conn-callout"/>
          <p:cNvSpPr>
            <a:spLocks noGrp="1"/>
          </p:cNvSpPr>
          <p:nvPr/>
        </p:nvSpPr>
        <p:spPr>
          <a:xfrm>
            <a:off x="685800" y="59055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请求向下、响应向上；每级都可能成为观测或预取事件的插入点。</a:t>
            </a:r>
            <a:endParaRPr sz="12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6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· 核心流程设计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核心流程设计：初始化、逐周期推进、阶段收尾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6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6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core-card-0"/>
          <p:cNvSpPr>
            <a:spLocks noGrp="1"/>
          </p:cNvSpPr>
          <p:nvPr/>
        </p:nvSpPr>
        <p:spPr>
          <a:xfrm>
            <a:off x="685800" y="1809750"/>
            <a:ext cx="33718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core-badge-0"/>
          <p:cNvSpPr>
            <a:spLocks noGrp="1"/>
          </p:cNvSpPr>
          <p:nvPr/>
        </p:nvSpPr>
        <p:spPr>
          <a:xfrm>
            <a:off x="914400" y="2038350"/>
            <a:ext cx="438150" cy="438150"/>
          </a:xfrm>
          <a:prstGeom prst="roundRect">
            <a:avLst>
              <a:gd name="adj" fmla="val 34783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200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core-title-0"/>
          <p:cNvSpPr>
            <a:spLocks noGrp="1"/>
          </p:cNvSpPr>
          <p:nvPr/>
        </p:nvSpPr>
        <p:spPr>
          <a:xfrm>
            <a:off x="1504950" y="209550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初始化</a:t>
            </a:r>
            <a:endParaRPr sz="16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core-body-0"/>
          <p:cNvSpPr>
            <a:spLocks noGrp="1"/>
          </p:cNvSpPr>
          <p:nvPr/>
        </p:nvSpPr>
        <p:spPr>
          <a:xfrm>
            <a:off x="914400" y="27241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读取配置和 trace，构建模块、channel 与阶段信息。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core-code-0-bg"/>
          <p:cNvSpPr>
            <a:spLocks noGrp="1"/>
          </p:cNvSpPr>
          <p:nvPr/>
        </p:nvSpPr>
        <p:spPr>
          <a:xfrm>
            <a:off x="914400" y="3543300"/>
            <a:ext cx="2914650" cy="87630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core-code-0"/>
          <p:cNvSpPr>
            <a:spLocks noGrp="1"/>
          </p:cNvSpPr>
          <p:nvPr/>
        </p:nvSpPr>
        <p:spPr>
          <a:xfrm>
            <a:off x="1085850" y="36766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build modules</a:t>
            </a:r>
            <a:endParaRPr sz="1015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load trace</a:t>
            </a:r>
            <a:endParaRPr sz="1015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re-arrow-0"/>
          <p:cNvSpPr>
            <a:spLocks noGrp="1"/>
          </p:cNvSpPr>
          <p:nvPr/>
        </p:nvSpPr>
        <p:spPr>
          <a:xfrm>
            <a:off x="4095750" y="3105150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8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core-card-1"/>
          <p:cNvSpPr>
            <a:spLocks noGrp="1"/>
          </p:cNvSpPr>
          <p:nvPr/>
        </p:nvSpPr>
        <p:spPr>
          <a:xfrm>
            <a:off x="4362450" y="1809750"/>
            <a:ext cx="33718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core-badge-1"/>
          <p:cNvSpPr>
            <a:spLocks noGrp="1"/>
          </p:cNvSpPr>
          <p:nvPr/>
        </p:nvSpPr>
        <p:spPr>
          <a:xfrm>
            <a:off x="4591050" y="2038350"/>
            <a:ext cx="438150" cy="438150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0">
            <a:solidFill>
              <a:srgbClr val="E8F7F4"/>
            </a:solidFill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200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core-title-1"/>
          <p:cNvSpPr>
            <a:spLocks noGrp="1"/>
          </p:cNvSpPr>
          <p:nvPr/>
        </p:nvSpPr>
        <p:spPr>
          <a:xfrm>
            <a:off x="5181600" y="209550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主循环</a:t>
            </a:r>
            <a:endParaRPr sz="16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core-body-1"/>
          <p:cNvSpPr>
            <a:spLocks noGrp="1"/>
          </p:cNvSpPr>
          <p:nvPr/>
        </p:nvSpPr>
        <p:spPr>
          <a:xfrm>
            <a:off x="4591050" y="2724150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时钟推进后，所有 operable 对象依次执行 operate_on。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core-code-1-bg"/>
          <p:cNvSpPr>
            <a:spLocks noGrp="1"/>
          </p:cNvSpPr>
          <p:nvPr/>
        </p:nvSpPr>
        <p:spPr>
          <a:xfrm>
            <a:off x="4591050" y="3543300"/>
            <a:ext cx="2914650" cy="87630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core-code-1"/>
          <p:cNvSpPr>
            <a:spLocks noGrp="1"/>
          </p:cNvSpPr>
          <p:nvPr/>
        </p:nvSpPr>
        <p:spPr>
          <a:xfrm>
            <a:off x="4762500" y="36766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operate_on(clock)</a:t>
            </a:r>
            <a:endParaRPr sz="1015" b="1">
              <a:solidFill>
                <a:srgbClr val="0F76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O3_CPU / CACHE / DRAM</a:t>
            </a:r>
            <a:endParaRPr sz="1015" b="1">
              <a:solidFill>
                <a:srgbClr val="0F76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re-arrow-1"/>
          <p:cNvSpPr>
            <a:spLocks noGrp="1"/>
          </p:cNvSpPr>
          <p:nvPr/>
        </p:nvSpPr>
        <p:spPr>
          <a:xfrm>
            <a:off x="7772400" y="3105150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8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core-card-2"/>
          <p:cNvSpPr>
            <a:spLocks noGrp="1"/>
          </p:cNvSpPr>
          <p:nvPr/>
        </p:nvSpPr>
        <p:spPr>
          <a:xfrm>
            <a:off x="8039100" y="1809750"/>
            <a:ext cx="34671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core-badge-2"/>
          <p:cNvSpPr>
            <a:spLocks noGrp="1"/>
          </p:cNvSpPr>
          <p:nvPr/>
        </p:nvSpPr>
        <p:spPr>
          <a:xfrm>
            <a:off x="8267700" y="2038350"/>
            <a:ext cx="438150" cy="438150"/>
          </a:xfrm>
          <a:prstGeom prst="roundRect">
            <a:avLst>
              <a:gd name="adj" fmla="val 34783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core-title-2"/>
          <p:cNvSpPr>
            <a:spLocks noGrp="1"/>
          </p:cNvSpPr>
          <p:nvPr/>
        </p:nvSpPr>
        <p:spPr>
          <a:xfrm>
            <a:off x="8858250" y="2095500"/>
            <a:ext cx="243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阶段收尾</a:t>
            </a:r>
            <a:endParaRPr sz="16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core-body-2"/>
          <p:cNvSpPr>
            <a:spLocks noGrp="1"/>
          </p:cNvSpPr>
          <p:nvPr/>
        </p:nvSpPr>
        <p:spPr>
          <a:xfrm>
            <a:off x="8267700" y="2724150"/>
            <a:ext cx="300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begin_phase / end_phase 保存 warmup 与 ROI 统计。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core-code-2-bg"/>
          <p:cNvSpPr>
            <a:spLocks noGrp="1"/>
          </p:cNvSpPr>
          <p:nvPr/>
        </p:nvSpPr>
        <p:spPr>
          <a:xfrm>
            <a:off x="8267700" y="3543300"/>
            <a:ext cx="3009900" cy="87630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core-code-2"/>
          <p:cNvSpPr>
            <a:spLocks noGrp="1"/>
          </p:cNvSpPr>
          <p:nvPr/>
        </p:nvSpPr>
        <p:spPr>
          <a:xfrm>
            <a:off x="8439150" y="3676650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begin_phase()</a:t>
            </a:r>
            <a:endParaRPr sz="1015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end_phase(cpu)</a:t>
            </a:r>
            <a:endParaRPr sz="1015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→ phase_stats</a:t>
            </a:r>
            <a:endParaRPr sz="1015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re-callout"/>
          <p:cNvSpPr>
            <a:spLocks noGrp="1"/>
          </p:cNvSpPr>
          <p:nvPr/>
        </p:nvSpPr>
        <p:spPr>
          <a:xfrm>
            <a:off x="685800" y="50101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真正贯穿系统的，是统一的逐周期调用和阶段边界。</a:t>
            </a:r>
            <a:endParaRPr sz="135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7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· 核心流程设计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7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核心流程设计：统计快照沿阶段汇总到输出层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7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7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stat-node-0"/>
          <p:cNvSpPr>
            <a:spLocks noGrp="1"/>
          </p:cNvSpPr>
          <p:nvPr/>
        </p:nvSpPr>
        <p:spPr>
          <a:xfrm>
            <a:off x="685800" y="1962150"/>
            <a:ext cx="23812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stat-title-0"/>
          <p:cNvSpPr>
            <a:spLocks noGrp="1"/>
          </p:cNvSpPr>
          <p:nvPr/>
        </p:nvSpPr>
        <p:spPr>
          <a:xfrm>
            <a:off x="857250" y="21336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模块统计</a:t>
            </a:r>
            <a:endParaRPr sz="12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stat-body-0"/>
          <p:cNvSpPr>
            <a:spLocks noGrp="1"/>
          </p:cNvSpPr>
          <p:nvPr/>
        </p:nvSpPr>
        <p:spPr>
          <a:xfrm>
            <a:off x="857250" y="24574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sim_stats / roi_stats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stat-arrow-0"/>
          <p:cNvSpPr>
            <a:spLocks noGrp="1"/>
          </p:cNvSpPr>
          <p:nvPr/>
        </p:nvSpPr>
        <p:spPr>
          <a:xfrm>
            <a:off x="3086100" y="23241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stat-node-1"/>
          <p:cNvSpPr>
            <a:spLocks noGrp="1"/>
          </p:cNvSpPr>
          <p:nvPr/>
        </p:nvSpPr>
        <p:spPr>
          <a:xfrm>
            <a:off x="3429000" y="1962150"/>
            <a:ext cx="23812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tat-title-1"/>
          <p:cNvSpPr>
            <a:spLocks noGrp="1"/>
          </p:cNvSpPr>
          <p:nvPr/>
        </p:nvSpPr>
        <p:spPr>
          <a:xfrm>
            <a:off x="3600450" y="21336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阶段汇总</a:t>
            </a:r>
            <a:endParaRPr sz="12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stat-body-1"/>
          <p:cNvSpPr>
            <a:spLocks noGrp="1"/>
          </p:cNvSpPr>
          <p:nvPr/>
        </p:nvSpPr>
        <p:spPr>
          <a:xfrm>
            <a:off x="3600450" y="24574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phase_stats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stat-arrow-1"/>
          <p:cNvSpPr>
            <a:spLocks noGrp="1"/>
          </p:cNvSpPr>
          <p:nvPr/>
        </p:nvSpPr>
        <p:spPr>
          <a:xfrm>
            <a:off x="5829300" y="23241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stat-node-2"/>
          <p:cNvSpPr>
            <a:spLocks noGrp="1"/>
          </p:cNvSpPr>
          <p:nvPr/>
        </p:nvSpPr>
        <p:spPr>
          <a:xfrm>
            <a:off x="6172200" y="1962150"/>
            <a:ext cx="23812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tat-title-2"/>
          <p:cNvSpPr>
            <a:spLocks noGrp="1"/>
          </p:cNvSpPr>
          <p:nvPr/>
        </p:nvSpPr>
        <p:spPr>
          <a:xfrm>
            <a:off x="6343650" y="21336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输出层</a:t>
            </a:r>
            <a:endParaRPr sz="12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stat-body-2"/>
          <p:cNvSpPr>
            <a:spLocks noGrp="1"/>
          </p:cNvSpPr>
          <p:nvPr/>
        </p:nvSpPr>
        <p:spPr>
          <a:xfrm>
            <a:off x="6343650" y="24574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plain_printer / json_printer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stat-arrow-2"/>
          <p:cNvSpPr>
            <a:spLocks noGrp="1"/>
          </p:cNvSpPr>
          <p:nvPr/>
        </p:nvSpPr>
        <p:spPr>
          <a:xfrm>
            <a:off x="8572500" y="23241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stat-node-3"/>
          <p:cNvSpPr>
            <a:spLocks noGrp="1"/>
          </p:cNvSpPr>
          <p:nvPr/>
        </p:nvSpPr>
        <p:spPr>
          <a:xfrm>
            <a:off x="8915400" y="1962150"/>
            <a:ext cx="23812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tat-title-3"/>
          <p:cNvSpPr>
            <a:spLocks noGrp="1"/>
          </p:cNvSpPr>
          <p:nvPr/>
        </p:nvSpPr>
        <p:spPr>
          <a:xfrm>
            <a:off x="9086850" y="21336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扩展出口</a:t>
            </a:r>
            <a:endParaRPr sz="1275" b="1">
              <a:solidFill>
                <a:srgbClr val="6D28D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stat-body-3"/>
          <p:cNvSpPr>
            <a:spLocks noGrp="1"/>
          </p:cNvSpPr>
          <p:nvPr/>
        </p:nvSpPr>
        <p:spPr>
          <a:xfrm>
            <a:off x="9086850" y="24574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MetricRecord → JSONL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stat-life-card"/>
          <p:cNvSpPr>
            <a:spLocks noGrp="1"/>
          </p:cNvSpPr>
          <p:nvPr/>
        </p:nvSpPr>
        <p:spPr>
          <a:xfrm>
            <a:off x="685800" y="3371850"/>
            <a:ext cx="5238750" cy="1981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tat-life-title"/>
          <p:cNvSpPr>
            <a:spLocks noGrp="1"/>
          </p:cNvSpPr>
          <p:nvPr/>
        </p:nvSpPr>
        <p:spPr>
          <a:xfrm>
            <a:off x="914400" y="3581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统计生命周期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stat-life-items"/>
          <p:cNvSpPr>
            <a:spLocks noGrp="1"/>
          </p:cNvSpPr>
          <p:nvPr/>
        </p:nvSpPr>
        <p:spPr>
          <a:xfrm>
            <a:off x="914400" y="3962400"/>
            <a:ext cx="4667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warmup 与 ROI 由 phase_info 区分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begin_phase 记录起点，end_phase 保存快照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CPU、Cache、DRAM 分别进入 phase_stats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stat-output-card"/>
          <p:cNvSpPr>
            <a:spLocks noGrp="1"/>
          </p:cNvSpPr>
          <p:nvPr/>
        </p:nvSpPr>
        <p:spPr>
          <a:xfrm>
            <a:off x="6267450" y="3371850"/>
            <a:ext cx="5238750" cy="1981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stat-output-title"/>
          <p:cNvSpPr>
            <a:spLocks noGrp="1"/>
          </p:cNvSpPr>
          <p:nvPr/>
        </p:nvSpPr>
        <p:spPr>
          <a:xfrm>
            <a:off x="6496050" y="3581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输出边界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stat-output-items"/>
          <p:cNvSpPr>
            <a:spLocks noGrp="1"/>
          </p:cNvSpPr>
          <p:nvPr/>
        </p:nvSpPr>
        <p:spPr>
          <a:xfrm>
            <a:off x="6496050" y="3962400"/>
            <a:ext cx="4667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plain_printer 面向人读的表格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json_printer 面向已有的机器读取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结构化指标把语义、单位和作用域显式化</a:t>
            </a:r>
            <a:endParaRPr sz="112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stat-callout"/>
          <p:cNvSpPr>
            <a:spLocks noGrp="1"/>
          </p:cNvSpPr>
          <p:nvPr/>
        </p:nvSpPr>
        <p:spPr>
          <a:xfrm>
            <a:off x="685800" y="5619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统计值已经存在；扩展要解决的是如何把“数据是什么”从具体 printer 中分离出来。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9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扩展点 1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9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1：同层多预取器 ensemble 与受限仲裁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9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9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e1-pf-0"/>
          <p:cNvSpPr>
            <a:spLocks noGrp="1"/>
          </p:cNvSpPr>
          <p:nvPr/>
        </p:nvSpPr>
        <p:spPr>
          <a:xfrm>
            <a:off x="685800" y="1809750"/>
            <a:ext cx="2000250" cy="51435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e1-pf-label-0"/>
          <p:cNvSpPr>
            <a:spLocks noGrp="1"/>
          </p:cNvSpPr>
          <p:nvPr/>
        </p:nvSpPr>
        <p:spPr>
          <a:xfrm>
            <a:off x="876300" y="19335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next_line</a:t>
            </a:r>
            <a:endParaRPr sz="120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e1-arrow-0"/>
          <p:cNvSpPr>
            <a:spLocks noGrp="1"/>
          </p:cNvSpPr>
          <p:nvPr/>
        </p:nvSpPr>
        <p:spPr>
          <a:xfrm>
            <a:off x="2743200" y="19240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e1-pf-1"/>
          <p:cNvSpPr>
            <a:spLocks noGrp="1"/>
          </p:cNvSpPr>
          <p:nvPr/>
        </p:nvSpPr>
        <p:spPr>
          <a:xfrm>
            <a:off x="685800" y="2457450"/>
            <a:ext cx="2000250" cy="51435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e1-pf-label-1"/>
          <p:cNvSpPr>
            <a:spLocks noGrp="1"/>
          </p:cNvSpPr>
          <p:nvPr/>
        </p:nvSpPr>
        <p:spPr>
          <a:xfrm>
            <a:off x="876300" y="25812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spp_dev</a:t>
            </a:r>
            <a:endParaRPr sz="120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e1-arrow-1"/>
          <p:cNvSpPr>
            <a:spLocks noGrp="1"/>
          </p:cNvSpPr>
          <p:nvPr/>
        </p:nvSpPr>
        <p:spPr>
          <a:xfrm>
            <a:off x="2743200" y="25717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e1-pf-2"/>
          <p:cNvSpPr>
            <a:spLocks noGrp="1"/>
          </p:cNvSpPr>
          <p:nvPr/>
        </p:nvSpPr>
        <p:spPr>
          <a:xfrm>
            <a:off x="685800" y="3105150"/>
            <a:ext cx="2000250" cy="51435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e1-pf-label-2"/>
          <p:cNvSpPr>
            <a:spLocks noGrp="1"/>
          </p:cNvSpPr>
          <p:nvPr/>
        </p:nvSpPr>
        <p:spPr>
          <a:xfrm>
            <a:off x="876300" y="32289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ip_stride</a:t>
            </a:r>
            <a:endParaRPr sz="120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e1-arrow-2"/>
          <p:cNvSpPr>
            <a:spLocks noGrp="1"/>
          </p:cNvSpPr>
          <p:nvPr/>
        </p:nvSpPr>
        <p:spPr>
          <a:xfrm>
            <a:off x="2743200" y="32194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e1-candidate"/>
          <p:cNvSpPr>
            <a:spLocks noGrp="1"/>
          </p:cNvSpPr>
          <p:nvPr/>
        </p:nvSpPr>
        <p:spPr>
          <a:xfrm>
            <a:off x="3162300" y="1809750"/>
            <a:ext cx="2095500" cy="180975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 w="9525">
            <a:solidFill>
              <a:srgbClr val="BFD3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e1-candidate-title"/>
          <p:cNvSpPr>
            <a:spLocks noGrp="1"/>
          </p:cNvSpPr>
          <p:nvPr/>
        </p:nvSpPr>
        <p:spPr>
          <a:xfrm>
            <a:off x="3352800" y="20002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PrefetchCandidate</a:t>
            </a:r>
            <a:endParaRPr sz="1125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e1-candidate-body"/>
          <p:cNvSpPr>
            <a:spLocks noGrp="1"/>
          </p:cNvSpPr>
          <p:nvPr/>
        </p:nvSpPr>
        <p:spPr>
          <a:xfrm>
            <a:off x="3352800" y="2400300"/>
            <a:ext cx="1714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addr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source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confidence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metadata</a:t>
            </a:r>
            <a:endParaRPr sz="975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e1-arrow-buffer"/>
          <p:cNvSpPr>
            <a:spLocks noGrp="1"/>
          </p:cNvSpPr>
          <p:nvPr/>
        </p:nvSpPr>
        <p:spPr>
          <a:xfrm>
            <a:off x="5276850" y="25717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e1-arbiter"/>
          <p:cNvSpPr>
            <a:spLocks noGrp="1"/>
          </p:cNvSpPr>
          <p:nvPr/>
        </p:nvSpPr>
        <p:spPr>
          <a:xfrm>
            <a:off x="5600700" y="1809750"/>
            <a:ext cx="2190750" cy="180975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2" name="e1-arbiter-title"/>
          <p:cNvSpPr>
            <a:spLocks noGrp="1"/>
          </p:cNvSpPr>
          <p:nvPr/>
        </p:nvSpPr>
        <p:spPr>
          <a:xfrm>
            <a:off x="5810250" y="2000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PrefetchArbiter</a:t>
            </a:r>
            <a:endParaRPr sz="1125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e1-arbiter-body"/>
          <p:cNvSpPr>
            <a:spLocks noGrp="1"/>
          </p:cNvSpPr>
          <p:nvPr/>
        </p:nvSpPr>
        <p:spPr>
          <a:xfrm>
            <a:off x="5810250" y="2400300"/>
            <a:ext cx="1714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 dedup</a:t>
            </a:r>
            <a:endParaRPr sz="1125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 budget</a:t>
            </a:r>
            <a:endParaRPr sz="1125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3. select</a:t>
            </a:r>
            <a:endParaRPr sz="1125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e1-arrow-pq"/>
          <p:cNvSpPr>
            <a:spLocks noGrp="1"/>
          </p:cNvSpPr>
          <p:nvPr/>
        </p:nvSpPr>
        <p:spPr>
          <a:xfrm>
            <a:off x="7829550" y="25717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5" name="e1-pq"/>
          <p:cNvSpPr>
            <a:spLocks noGrp="1"/>
          </p:cNvSpPr>
          <p:nvPr/>
        </p:nvSpPr>
        <p:spPr>
          <a:xfrm>
            <a:off x="8191500" y="1809750"/>
            <a:ext cx="3314700" cy="1809750"/>
          </a:xfrm>
          <a:prstGeom prst="roundRect">
            <a:avLst>
              <a:gd name="adj" fmla="val 8421"/>
            </a:avLst>
          </a:prstGeom>
          <a:solidFill>
            <a:srgbClr val="E8F7F4"/>
          </a:solidFill>
          <a:ln w="9525">
            <a:solidFill>
              <a:srgbClr val="BCE7D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6" name="e1-pq-title"/>
          <p:cNvSpPr>
            <a:spLocks noGrp="1"/>
          </p:cNvSpPr>
          <p:nvPr/>
        </p:nvSpPr>
        <p:spPr>
          <a:xfrm>
            <a:off x="8401050" y="20002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L2C Prefetch Queue</a:t>
            </a:r>
            <a:endParaRPr sz="1125" b="1">
              <a:solidFill>
                <a:srgbClr val="0F76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7" name="e1-pq-body"/>
          <p:cNvSpPr>
            <a:spLocks noGrp="1"/>
          </p:cNvSpPr>
          <p:nvPr/>
        </p:nvSpPr>
        <p:spPr>
          <a:xfrm>
            <a:off x="8401050" y="2400300"/>
            <a:ext cx="276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granted requests → PQ</a:t>
            </a:r>
            <a:endParaRPr sz="105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per-source attribution</a:t>
            </a:r>
            <a:endParaRPr sz="105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backpressure-aware</a:t>
            </a:r>
            <a:endParaRPr sz="105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e1-bottom-0"/>
          <p:cNvSpPr>
            <a:spLocks noGrp="1"/>
          </p:cNvSpPr>
          <p:nvPr/>
        </p:nvSpPr>
        <p:spPr>
          <a:xfrm>
            <a:off x="685800" y="3943350"/>
            <a:ext cx="33718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9" name="e1-bottom-title-0"/>
          <p:cNvSpPr>
            <a:spLocks noGrp="1"/>
          </p:cNvSpPr>
          <p:nvPr/>
        </p:nvSpPr>
        <p:spPr>
          <a:xfrm>
            <a:off x="876300" y="4133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去重与归因</a:t>
            </a:r>
            <a:endParaRPr sz="12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" name="e1-bottom-body-0"/>
          <p:cNvSpPr>
            <a:spLocks noGrp="1"/>
          </p:cNvSpPr>
          <p:nvPr/>
        </p:nvSpPr>
        <p:spPr>
          <a:xfrm>
            <a:off x="876300" y="4495800"/>
            <a:ext cx="2990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同一地址只发一次；记录 source，用于 useful 归因。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1" name="e1-bottom-1"/>
          <p:cNvSpPr>
            <a:spLocks noGrp="1"/>
          </p:cNvSpPr>
          <p:nvPr/>
        </p:nvSpPr>
        <p:spPr>
          <a:xfrm>
            <a:off x="4362450" y="3943350"/>
            <a:ext cx="33718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2" name="e1-bottom-title-1"/>
          <p:cNvSpPr>
            <a:spLocks noGrp="1"/>
          </p:cNvSpPr>
          <p:nvPr/>
        </p:nvSpPr>
        <p:spPr>
          <a:xfrm>
            <a:off x="4552950" y="4133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预算控制</a:t>
            </a:r>
            <a:endParaRPr sz="1275" b="1">
              <a:solidFill>
                <a:srgbClr val="B5470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e1-bottom-body-1"/>
          <p:cNvSpPr>
            <a:spLocks noGrp="1"/>
          </p:cNvSpPr>
          <p:nvPr/>
        </p:nvSpPr>
        <p:spPr>
          <a:xfrm>
            <a:off x="4552950" y="4495800"/>
            <a:ext cx="2990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token bucket 限制每窗口预取数；队列满时停止发放。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4" name="e1-bottom-2"/>
          <p:cNvSpPr>
            <a:spLocks noGrp="1"/>
          </p:cNvSpPr>
          <p:nvPr/>
        </p:nvSpPr>
        <p:spPr>
          <a:xfrm>
            <a:off x="8039100" y="3943350"/>
            <a:ext cx="33718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e1-bottom-title-2"/>
          <p:cNvSpPr>
            <a:spLocks noGrp="1"/>
          </p:cNvSpPr>
          <p:nvPr/>
        </p:nvSpPr>
        <p:spPr>
          <a:xfrm>
            <a:off x="8229600" y="4133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RTL 约束</a:t>
            </a:r>
            <a:endParaRPr sz="12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6" name="e1-bottom-body-2"/>
          <p:cNvSpPr>
            <a:spLocks noGrp="1"/>
          </p:cNvSpPr>
          <p:nvPr/>
        </p:nvSpPr>
        <p:spPr>
          <a:xfrm>
            <a:off x="8229600" y="4495800"/>
            <a:ext cx="2990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小表项 + 计数器 + 固定状态机；面积开销单独评估。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7" name="e1-callout"/>
          <p:cNvSpPr>
            <a:spLocks noGrp="1"/>
          </p:cNvSpPr>
          <p:nvPr/>
        </p:nvSpPr>
        <p:spPr>
          <a:xfrm>
            <a:off x="685800" y="55626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目标不是同时开更多，而是在相同预取预算下提高 IPC 与覆盖率。</a:t>
            </a:r>
            <a:endParaRPr sz="12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0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扩展点 2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0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2：结构化指标定义统一的结果语义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0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0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e2-flow-0"/>
          <p:cNvSpPr>
            <a:spLocks noGrp="1"/>
          </p:cNvSpPr>
          <p:nvPr/>
        </p:nvSpPr>
        <p:spPr>
          <a:xfrm>
            <a:off x="6858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e2-flow-label-0"/>
          <p:cNvSpPr>
            <a:spLocks noGrp="1"/>
          </p:cNvSpPr>
          <p:nvPr/>
        </p:nvSpPr>
        <p:spPr>
          <a:xfrm>
            <a:off x="7620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MetricDefinition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e2-arrow-0"/>
          <p:cNvSpPr>
            <a:spLocks noGrp="1"/>
          </p:cNvSpPr>
          <p:nvPr/>
        </p:nvSpPr>
        <p:spPr>
          <a:xfrm>
            <a:off x="25717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e2-flow-1"/>
          <p:cNvSpPr>
            <a:spLocks noGrp="1"/>
          </p:cNvSpPr>
          <p:nvPr/>
        </p:nvSpPr>
        <p:spPr>
          <a:xfrm>
            <a:off x="27622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9525">
            <a:solidFill>
              <a:srgbClr val="BFD3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e2-flow-label-1"/>
          <p:cNvSpPr>
            <a:spLocks noGrp="1"/>
          </p:cNvSpPr>
          <p:nvPr/>
        </p:nvSpPr>
        <p:spPr>
          <a:xfrm>
            <a:off x="28384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MetricRecord</a:t>
            </a:r>
            <a:endParaRPr sz="105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e2-arrow-1"/>
          <p:cNvSpPr>
            <a:spLocks noGrp="1"/>
          </p:cNvSpPr>
          <p:nvPr/>
        </p:nvSpPr>
        <p:spPr>
          <a:xfrm>
            <a:off x="46482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2" name="e2-flow-2"/>
          <p:cNvSpPr>
            <a:spLocks noGrp="1"/>
          </p:cNvSpPr>
          <p:nvPr/>
        </p:nvSpPr>
        <p:spPr>
          <a:xfrm>
            <a:off x="48387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e2-flow-label-2"/>
          <p:cNvSpPr>
            <a:spLocks noGrp="1"/>
          </p:cNvSpPr>
          <p:nvPr/>
        </p:nvSpPr>
        <p:spPr>
          <a:xfrm>
            <a:off x="49149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MetricRegistry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e2-arrow-2"/>
          <p:cNvSpPr>
            <a:spLocks noGrp="1"/>
          </p:cNvSpPr>
          <p:nvPr/>
        </p:nvSpPr>
        <p:spPr>
          <a:xfrm>
            <a:off x="67246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5" name="e2-flow-3"/>
          <p:cNvSpPr>
            <a:spLocks noGrp="1"/>
          </p:cNvSpPr>
          <p:nvPr/>
        </p:nvSpPr>
        <p:spPr>
          <a:xfrm>
            <a:off x="69151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6" name="e2-flow-label-3"/>
          <p:cNvSpPr>
            <a:spLocks noGrp="1"/>
          </p:cNvSpPr>
          <p:nvPr/>
        </p:nvSpPr>
        <p:spPr>
          <a:xfrm>
            <a:off x="69913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MetricCalculator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7" name="e2-arrow-3"/>
          <p:cNvSpPr>
            <a:spLocks noGrp="1"/>
          </p:cNvSpPr>
          <p:nvPr/>
        </p:nvSpPr>
        <p:spPr>
          <a:xfrm>
            <a:off x="88011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def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5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8" name="e2-flow-4"/>
          <p:cNvSpPr>
            <a:spLocks noGrp="1"/>
          </p:cNvSpPr>
          <p:nvPr/>
        </p:nvSpPr>
        <p:spPr>
          <a:xfrm>
            <a:off x="89916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9" name="e2-flow-label-4"/>
          <p:cNvSpPr>
            <a:spLocks noGrp="1"/>
          </p:cNvSpPr>
          <p:nvPr/>
        </p:nvSpPr>
        <p:spPr>
          <a:xfrm>
            <a:off x="90678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ResultParser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e2-role-card"/>
          <p:cNvSpPr>
            <a:spLocks noGrp="1"/>
          </p:cNvSpPr>
          <p:nvPr/>
        </p:nvSpPr>
        <p:spPr>
          <a:xfrm>
            <a:off x="685800" y="2914650"/>
            <a:ext cx="5905500" cy="23622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e2-role-title"/>
          <p:cNvSpPr>
            <a:spLocks noGrp="1"/>
          </p:cNvSpPr>
          <p:nvPr/>
        </p:nvSpPr>
        <p:spPr>
          <a:xfrm>
            <a:off x="914400" y="31051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对象职责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2" name="e2-role-items"/>
          <p:cNvSpPr>
            <a:spLocks noGrp="1"/>
          </p:cNvSpPr>
          <p:nvPr/>
        </p:nvSpPr>
        <p:spPr>
          <a:xfrm>
            <a:off x="914400" y="3505200"/>
            <a:ext cx="5429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Definition：metric_id、unit、kind、formula、dimensions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Record：run_id、phase、scope、metric_id、value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Registry：注册、查找和校验指标定义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Calculator / Parser：派生计算与下游读取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e2-json-card"/>
          <p:cNvSpPr>
            <a:spLocks noGrp="1"/>
          </p:cNvSpPr>
          <p:nvPr/>
        </p:nvSpPr>
        <p:spPr>
          <a:xfrm>
            <a:off x="6819900" y="2914650"/>
            <a:ext cx="4686300" cy="2362200"/>
          </a:xfrm>
          <a:prstGeom prst="roundRect">
            <a:avLst>
              <a:gd name="adj" fmla="val 6452"/>
            </a:avLst>
          </a:prstGeom>
          <a:solidFill>
            <a:srgbClr val="14243A"/>
          </a:solidFill>
          <a:ln w="9525">
            <a:solidFill>
              <a:srgbClr val="14243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4" name="e2-json-label"/>
          <p:cNvSpPr>
            <a:spLocks noGrp="1"/>
          </p:cNvSpPr>
          <p:nvPr/>
        </p:nvSpPr>
        <p:spPr>
          <a:xfrm>
            <a:off x="7048500" y="3105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JSONL 记录（节选）</a:t>
            </a:r>
            <a:endParaRPr sz="975" b="1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5" name="e2-json-text"/>
          <p:cNvSpPr>
            <a:spLocks noGrp="1"/>
          </p:cNvSpPr>
          <p:nvPr/>
        </p:nvSpPr>
        <p:spPr>
          <a:xfrm>
            <a:off x="7048500" y="3390900"/>
            <a:ext cx="4095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"run_id": "run-0001",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"phase": "roi",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"scope": "cpu0_L1D",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"metric_id": "load_miss",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"value": 19431,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"unit": "count"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015" b="0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6" name="e2-callout"/>
          <p:cNvSpPr>
            <a:spLocks noGrp="1"/>
          </p:cNvSpPr>
          <p:nvPr/>
        </p:nvSpPr>
        <p:spPr>
          <a:xfrm>
            <a:off x="685800" y="55245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新增指标时只增加定义和记录，不在 printer 中复制一套私有格式。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1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扩展点 3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1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3：并行实验把配置空间变成可追踪的 RunMatrix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1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1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m3-flow-0"/>
          <p:cNvSpPr>
            <a:spLocks noGrp="1"/>
          </p:cNvSpPr>
          <p:nvPr/>
        </p:nvSpPr>
        <p:spPr>
          <a:xfrm>
            <a:off x="6858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m3-flow-label-0"/>
          <p:cNvSpPr>
            <a:spLocks noGrp="1"/>
          </p:cNvSpPr>
          <p:nvPr/>
        </p:nvSpPr>
        <p:spPr>
          <a:xfrm>
            <a:off x="7620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ExperimentSpec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m3-arrow-0"/>
          <p:cNvSpPr>
            <a:spLocks noGrp="1"/>
          </p:cNvSpPr>
          <p:nvPr/>
        </p:nvSpPr>
        <p:spPr>
          <a:xfrm>
            <a:off x="25717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m3-flow-1"/>
          <p:cNvSpPr>
            <a:spLocks noGrp="1"/>
          </p:cNvSpPr>
          <p:nvPr/>
        </p:nvSpPr>
        <p:spPr>
          <a:xfrm>
            <a:off x="27622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m3-flow-label-1"/>
          <p:cNvSpPr>
            <a:spLocks noGrp="1"/>
          </p:cNvSpPr>
          <p:nvPr/>
        </p:nvSpPr>
        <p:spPr>
          <a:xfrm>
            <a:off x="28384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RunMatrix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m3-arrow-1"/>
          <p:cNvSpPr>
            <a:spLocks noGrp="1"/>
          </p:cNvSpPr>
          <p:nvPr/>
        </p:nvSpPr>
        <p:spPr>
          <a:xfrm>
            <a:off x="46482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m3-flow-2"/>
          <p:cNvSpPr>
            <a:spLocks noGrp="1"/>
          </p:cNvSpPr>
          <p:nvPr/>
        </p:nvSpPr>
        <p:spPr>
          <a:xfrm>
            <a:off x="48387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4E5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3" name="m3-flow-label-2"/>
          <p:cNvSpPr>
            <a:spLocks noGrp="1"/>
          </p:cNvSpPr>
          <p:nvPr/>
        </p:nvSpPr>
        <p:spPr>
          <a:xfrm>
            <a:off x="49149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WorkerPool</a:t>
            </a:r>
            <a:endParaRPr sz="1050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m3-arrow-2"/>
          <p:cNvSpPr>
            <a:spLocks noGrp="1"/>
          </p:cNvSpPr>
          <p:nvPr/>
        </p:nvSpPr>
        <p:spPr>
          <a:xfrm>
            <a:off x="67246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m3-flow-3"/>
          <p:cNvSpPr>
            <a:spLocks noGrp="1"/>
          </p:cNvSpPr>
          <p:nvPr/>
        </p:nvSpPr>
        <p:spPr>
          <a:xfrm>
            <a:off x="69151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m3-flow-label-3"/>
          <p:cNvSpPr>
            <a:spLocks noGrp="1"/>
          </p:cNvSpPr>
          <p:nvPr/>
        </p:nvSpPr>
        <p:spPr>
          <a:xfrm>
            <a:off x="69913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RunArtifact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m3-arrow-3"/>
          <p:cNvSpPr>
            <a:spLocks noGrp="1"/>
          </p:cNvSpPr>
          <p:nvPr/>
        </p:nvSpPr>
        <p:spPr>
          <a:xfrm>
            <a:off x="88011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m3-flow-4"/>
          <p:cNvSpPr>
            <a:spLocks noGrp="1"/>
          </p:cNvSpPr>
          <p:nvPr/>
        </p:nvSpPr>
        <p:spPr>
          <a:xfrm>
            <a:off x="89916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m3-flow-label-4"/>
          <p:cNvSpPr>
            <a:spLocks noGrp="1"/>
          </p:cNvSpPr>
          <p:nvPr/>
        </p:nvSpPr>
        <p:spPr>
          <a:xfrm>
            <a:off x="90678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RunStore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m3-card-0"/>
          <p:cNvSpPr>
            <a:spLocks noGrp="1"/>
          </p:cNvSpPr>
          <p:nvPr/>
        </p:nvSpPr>
        <p:spPr>
          <a:xfrm>
            <a:off x="685800" y="299085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m3-badge-0"/>
          <p:cNvSpPr>
            <a:spLocks noGrp="1"/>
          </p:cNvSpPr>
          <p:nvPr/>
        </p:nvSpPr>
        <p:spPr>
          <a:xfrm>
            <a:off x="876300" y="3181350"/>
            <a:ext cx="381000" cy="381000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 w="0">
            <a:solidFill>
              <a:srgbClr val="FFF4E5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975" b="1">
              <a:solidFill>
                <a:srgbClr val="B5470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m3-title-0"/>
          <p:cNvSpPr>
            <a:spLocks noGrp="1"/>
          </p:cNvSpPr>
          <p:nvPr/>
        </p:nvSpPr>
        <p:spPr>
          <a:xfrm>
            <a:off x="1390650" y="3219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输入维度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m3-body-0"/>
          <p:cNvSpPr>
            <a:spLocks noGrp="1"/>
          </p:cNvSpPr>
          <p:nvPr/>
        </p:nvSpPr>
        <p:spPr>
          <a:xfrm>
            <a:off x="876300" y="3752850"/>
            <a:ext cx="2990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trace、binary/config、预取器组合、重复次数和资源上限。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m3-card-1"/>
          <p:cNvSpPr>
            <a:spLocks noGrp="1"/>
          </p:cNvSpPr>
          <p:nvPr/>
        </p:nvSpPr>
        <p:spPr>
          <a:xfrm>
            <a:off x="4362450" y="299085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m3-badge-1"/>
          <p:cNvSpPr>
            <a:spLocks noGrp="1"/>
          </p:cNvSpPr>
          <p:nvPr/>
        </p:nvSpPr>
        <p:spPr>
          <a:xfrm>
            <a:off x="4552950" y="3181350"/>
            <a:ext cx="381000" cy="381000"/>
          </a:xfrm>
          <a:prstGeom prst="roundRect">
            <a:avLst>
              <a:gd name="adj" fmla="val 40000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m3-title-1"/>
          <p:cNvSpPr>
            <a:spLocks noGrp="1"/>
          </p:cNvSpPr>
          <p:nvPr/>
        </p:nvSpPr>
        <p:spPr>
          <a:xfrm>
            <a:off x="5067300" y="3219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执行隔离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m3-body-1"/>
          <p:cNvSpPr>
            <a:spLocks noGrp="1"/>
          </p:cNvSpPr>
          <p:nvPr/>
        </p:nvSpPr>
        <p:spPr>
          <a:xfrm>
            <a:off x="4552950" y="3752850"/>
            <a:ext cx="2990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 run 使用独立进程、工作目录和环境变量。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m3-card-2"/>
          <p:cNvSpPr>
            <a:spLocks noGrp="1"/>
          </p:cNvSpPr>
          <p:nvPr/>
        </p:nvSpPr>
        <p:spPr>
          <a:xfrm>
            <a:off x="8039100" y="299085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m3-badge-2"/>
          <p:cNvSpPr>
            <a:spLocks noGrp="1"/>
          </p:cNvSpPr>
          <p:nvPr/>
        </p:nvSpPr>
        <p:spPr>
          <a:xfrm>
            <a:off x="8229600" y="3181350"/>
            <a:ext cx="381000" cy="381000"/>
          </a:xfrm>
          <a:prstGeom prst="roundRect">
            <a:avLst>
              <a:gd name="adj" fmla="val 40000"/>
            </a:avLst>
          </a:prstGeom>
          <a:solidFill>
            <a:srgbClr val="E8F7F4"/>
          </a:solidFill>
          <a:ln w="0">
            <a:solidFill>
              <a:srgbClr val="E8F7F4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9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m3-title-2"/>
          <p:cNvSpPr>
            <a:spLocks noGrp="1"/>
          </p:cNvSpPr>
          <p:nvPr/>
        </p:nvSpPr>
        <p:spPr>
          <a:xfrm>
            <a:off x="8743950" y="3219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结果清单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m3-body-2"/>
          <p:cNvSpPr>
            <a:spLocks noGrp="1"/>
          </p:cNvSpPr>
          <p:nvPr/>
        </p:nvSpPr>
        <p:spPr>
          <a:xfrm>
            <a:off x="8229600" y="3752850"/>
            <a:ext cx="2990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run_id、退出码、stdout/stderr、metrics 文件和时长。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m3-matrix-card"/>
          <p:cNvSpPr>
            <a:spLocks noGrp="1"/>
          </p:cNvSpPr>
          <p:nvPr/>
        </p:nvSpPr>
        <p:spPr>
          <a:xfrm>
            <a:off x="685800" y="4838700"/>
            <a:ext cx="6953250" cy="819150"/>
          </a:xfrm>
          <a:prstGeom prst="roundRect">
            <a:avLst>
              <a:gd name="adj" fmla="val 18605"/>
            </a:avLst>
          </a:prstGeom>
          <a:solidFill>
            <a:srgbClr val="14243A"/>
          </a:solidFill>
          <a:ln w="9525">
            <a:solidFill>
              <a:srgbClr val="14243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3" name="m3-matrix-label"/>
          <p:cNvSpPr>
            <a:spLocks noGrp="1"/>
          </p:cNvSpPr>
          <p:nvPr/>
        </p:nvSpPr>
        <p:spPr>
          <a:xfrm>
            <a:off x="895350" y="49911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RunMatrix</a:t>
            </a:r>
            <a:endParaRPr sz="975" b="1">
              <a:solidFill>
                <a:srgbClr val="FDB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m3-matrix-text"/>
          <p:cNvSpPr>
            <a:spLocks noGrp="1"/>
          </p:cNvSpPr>
          <p:nvPr/>
        </p:nvSpPr>
        <p:spPr>
          <a:xfrm>
            <a:off x="1809750" y="495300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traces × configs × prefetchers × repeats</a:t>
            </a:r>
            <a:endParaRPr sz="120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m3-runid"/>
          <p:cNvSpPr>
            <a:spLocks noGrp="1"/>
          </p:cNvSpPr>
          <p:nvPr/>
        </p:nvSpPr>
        <p:spPr>
          <a:xfrm>
            <a:off x="895350" y="5257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CBD5E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run_id = hash(trace, config, repeat)</a:t>
            </a:r>
            <a:endParaRPr sz="975" b="0">
              <a:solidFill>
                <a:srgbClr val="CBD5E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m3-limit-card"/>
          <p:cNvSpPr>
            <a:spLocks noGrp="1"/>
          </p:cNvSpPr>
          <p:nvPr/>
        </p:nvSpPr>
        <p:spPr>
          <a:xfrm>
            <a:off x="7867650" y="4838700"/>
            <a:ext cx="3638550" cy="819150"/>
          </a:xfrm>
          <a:prstGeom prst="roundRect">
            <a:avLst>
              <a:gd name="adj" fmla="val 18605"/>
            </a:avLst>
          </a:prstGeom>
          <a:solidFill>
            <a:srgbClr val="FFF4E5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m3-limit-title"/>
          <p:cNvSpPr>
            <a:spLocks noGrp="1"/>
          </p:cNvSpPr>
          <p:nvPr/>
        </p:nvSpPr>
        <p:spPr>
          <a:xfrm>
            <a:off x="8077200" y="49720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B5470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并发控制</a:t>
            </a:r>
            <a:endParaRPr sz="975" b="1">
              <a:solidFill>
                <a:srgbClr val="B5470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m3-limit-body"/>
          <p:cNvSpPr>
            <a:spLocks noGrp="1"/>
          </p:cNvSpPr>
          <p:nvPr/>
        </p:nvSpPr>
        <p:spPr>
          <a:xfrm>
            <a:off x="8077200" y="52197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max_workers / CPU / memory</a:t>
            </a:r>
            <a:endParaRPr sz="940" b="0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40" b="0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失败任务保留日志并可重跑</a:t>
            </a:r>
            <a:endParaRPr sz="940" b="0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m3-callout"/>
          <p:cNvSpPr>
            <a:spLocks noGrp="1"/>
          </p:cNvSpPr>
          <p:nvPr/>
        </p:nvSpPr>
        <p:spPr>
          <a:xfrm>
            <a:off x="685800" y="58864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并行的前提是隔离和追踪：没有 run_id 的并发只会放大不确定性。</a:t>
            </a:r>
            <a:endParaRPr sz="1275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2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扩展点 4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2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扩展点 4：自动比较从统一记录生成图表和报告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2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2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m4-flow-0"/>
          <p:cNvSpPr>
            <a:spLocks noGrp="1"/>
          </p:cNvSpPr>
          <p:nvPr/>
        </p:nvSpPr>
        <p:spPr>
          <a:xfrm>
            <a:off x="6858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m4-flow-label-0"/>
          <p:cNvSpPr>
            <a:spLocks noGrp="1"/>
          </p:cNvSpPr>
          <p:nvPr/>
        </p:nvSpPr>
        <p:spPr>
          <a:xfrm>
            <a:off x="7620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RunStore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m4-arrow-0"/>
          <p:cNvSpPr>
            <a:spLocks noGrp="1"/>
          </p:cNvSpPr>
          <p:nvPr/>
        </p:nvSpPr>
        <p:spPr>
          <a:xfrm>
            <a:off x="25717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m4-flow-1"/>
          <p:cNvSpPr>
            <a:spLocks noGrp="1"/>
          </p:cNvSpPr>
          <p:nvPr/>
        </p:nvSpPr>
        <p:spPr>
          <a:xfrm>
            <a:off x="27622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m4-flow-label-1"/>
          <p:cNvSpPr>
            <a:spLocks noGrp="1"/>
          </p:cNvSpPr>
          <p:nvPr/>
        </p:nvSpPr>
        <p:spPr>
          <a:xfrm>
            <a:off x="28384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ComparisonSet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m4-arrow-1"/>
          <p:cNvSpPr>
            <a:spLocks noGrp="1"/>
          </p:cNvSpPr>
          <p:nvPr/>
        </p:nvSpPr>
        <p:spPr>
          <a:xfrm>
            <a:off x="46482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m4-flow-2"/>
          <p:cNvSpPr>
            <a:spLocks noGrp="1"/>
          </p:cNvSpPr>
          <p:nvPr/>
        </p:nvSpPr>
        <p:spPr>
          <a:xfrm>
            <a:off x="48387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m4-flow-label-2"/>
          <p:cNvSpPr>
            <a:spLocks noGrp="1"/>
          </p:cNvSpPr>
          <p:nvPr/>
        </p:nvSpPr>
        <p:spPr>
          <a:xfrm>
            <a:off x="49149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MetricComparator</a:t>
            </a:r>
            <a:endParaRPr sz="90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m4-arrow-2"/>
          <p:cNvSpPr>
            <a:spLocks noGrp="1"/>
          </p:cNvSpPr>
          <p:nvPr/>
        </p:nvSpPr>
        <p:spPr>
          <a:xfrm>
            <a:off x="672465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m4-flow-3"/>
          <p:cNvSpPr>
            <a:spLocks noGrp="1"/>
          </p:cNvSpPr>
          <p:nvPr/>
        </p:nvSpPr>
        <p:spPr>
          <a:xfrm>
            <a:off x="691515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1E7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6" name="m4-flow-label-3"/>
          <p:cNvSpPr>
            <a:spLocks noGrp="1"/>
          </p:cNvSpPr>
          <p:nvPr/>
        </p:nvSpPr>
        <p:spPr>
          <a:xfrm>
            <a:off x="69913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ChartBuilder</a:t>
            </a:r>
            <a:endParaRPr sz="1050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m4-arrow-3"/>
          <p:cNvSpPr>
            <a:spLocks noGrp="1"/>
          </p:cNvSpPr>
          <p:nvPr/>
        </p:nvSpPr>
        <p:spPr>
          <a:xfrm>
            <a:off x="8801100" y="20383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3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m4-flow-4"/>
          <p:cNvSpPr>
            <a:spLocks noGrp="1"/>
          </p:cNvSpPr>
          <p:nvPr/>
        </p:nvSpPr>
        <p:spPr>
          <a:xfrm>
            <a:off x="8991600" y="1790700"/>
            <a:ext cx="18669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m4-flow-label-4"/>
          <p:cNvSpPr>
            <a:spLocks noGrp="1"/>
          </p:cNvSpPr>
          <p:nvPr/>
        </p:nvSpPr>
        <p:spPr>
          <a:xfrm>
            <a:off x="90678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buNone/>
              <a:def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1020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ReportBuilder</a:t>
            </a:r>
            <a:endParaRPr sz="1050" b="1">
              <a:solidFill>
                <a:srgbClr val="1020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m4-align-card"/>
          <p:cNvSpPr>
            <a:spLocks noGrp="1"/>
          </p:cNvSpPr>
          <p:nvPr/>
        </p:nvSpPr>
        <p:spPr>
          <a:xfrm>
            <a:off x="685800" y="2990850"/>
            <a:ext cx="523875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m4-align-title"/>
          <p:cNvSpPr>
            <a:spLocks noGrp="1"/>
          </p:cNvSpPr>
          <p:nvPr/>
        </p:nvSpPr>
        <p:spPr>
          <a:xfrm>
            <a:off x="914400" y="3200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比较前提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m4-align-items"/>
          <p:cNvSpPr>
            <a:spLocks noGrp="1"/>
          </p:cNvSpPr>
          <p:nvPr/>
        </p:nvSpPr>
        <p:spPr>
          <a:xfrm>
            <a:off x="914400" y="3581400"/>
            <a:ext cx="4667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800"/>
              </a:spcAft>
              <a:buChar char="•"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 metric_id、phase、scope 才可直接比较</a:t>
            </a:r>
            <a:endParaRPr sz="109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run_id、trace、config 必须进入比较上下文</a:t>
            </a:r>
            <a:endParaRPr sz="109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9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缺失、失败和过期结果显式标记</a:t>
            </a:r>
            <a:endParaRPr sz="109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m4-output-card"/>
          <p:cNvSpPr>
            <a:spLocks noGrp="1"/>
          </p:cNvSpPr>
          <p:nvPr/>
        </p:nvSpPr>
        <p:spPr>
          <a:xfrm>
            <a:off x="6267450" y="2990850"/>
            <a:ext cx="523875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m4-output-title"/>
          <p:cNvSpPr>
            <a:spLocks noGrp="1"/>
          </p:cNvSpPr>
          <p:nvPr/>
        </p:nvSpPr>
        <p:spPr>
          <a:xfrm>
            <a:off x="6496050" y="3200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分析产物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m4-output-0"/>
          <p:cNvSpPr>
            <a:spLocks noGrp="1"/>
          </p:cNvSpPr>
          <p:nvPr/>
        </p:nvSpPr>
        <p:spPr>
          <a:xfrm>
            <a:off x="6496050" y="36195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对比表</a:t>
            </a:r>
            <a:endParaRPr sz="9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m4-output-1"/>
          <p:cNvSpPr>
            <a:spLocks noGrp="1"/>
          </p:cNvSpPr>
          <p:nvPr/>
        </p:nvSpPr>
        <p:spPr>
          <a:xfrm>
            <a:off x="8820150" y="36195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柱状图 / 折线图</a:t>
            </a:r>
            <a:endParaRPr sz="9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m4-output-2"/>
          <p:cNvSpPr>
            <a:spLocks noGrp="1"/>
          </p:cNvSpPr>
          <p:nvPr/>
        </p:nvSpPr>
        <p:spPr>
          <a:xfrm>
            <a:off x="6496050" y="41148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差异摘要</a:t>
            </a:r>
            <a:endParaRPr sz="9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m4-output-3"/>
          <p:cNvSpPr>
            <a:spLocks noGrp="1"/>
          </p:cNvSpPr>
          <p:nvPr/>
        </p:nvSpPr>
        <p:spPr>
          <a:xfrm>
            <a:off x="8820150" y="41148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Markdown / HTML 报告</a:t>
            </a:r>
            <a:endParaRPr sz="9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m4-record-card"/>
          <p:cNvSpPr>
            <a:spLocks noGrp="1"/>
          </p:cNvSpPr>
          <p:nvPr/>
        </p:nvSpPr>
        <p:spPr>
          <a:xfrm>
            <a:off x="685800" y="5086350"/>
            <a:ext cx="10820400" cy="609600"/>
          </a:xfrm>
          <a:prstGeom prst="roundRect">
            <a:avLst>
              <a:gd name="adj" fmla="val 25000"/>
            </a:avLst>
          </a:prstGeom>
          <a:solidFill>
            <a:srgbClr val="14243A"/>
          </a:solidFill>
          <a:ln w="9525">
            <a:solidFill>
              <a:srgbClr val="14243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m4-record-text"/>
          <p:cNvSpPr>
            <a:spLocks noGrp="1"/>
          </p:cNvSpPr>
          <p:nvPr/>
        </p:nvSpPr>
        <p:spPr>
          <a:xfrm>
            <a:off x="914400" y="52768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报告由同一份 MetricRecord / ComparisonSet 生成：表格、图表和结论保持同源。</a:t>
            </a:r>
            <a:endParaRPr sz="1200" b="1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3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对象关系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3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对象关系：四个扩展点通过 run_id 与 metric_id 组合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3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3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integ-exp"/>
          <p:cNvSpPr>
            <a:spLocks noGrp="1"/>
          </p:cNvSpPr>
          <p:nvPr/>
        </p:nvSpPr>
        <p:spPr>
          <a:xfrm>
            <a:off x="685800" y="1924050"/>
            <a:ext cx="2095500" cy="742950"/>
          </a:xfrm>
          <a:prstGeom prst="roundRect">
            <a:avLst>
              <a:gd name="adj" fmla="val 20513"/>
            </a:avLst>
          </a:prstGeom>
          <a:solidFill>
            <a:srgbClr val="FFF4E5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integ-exp-title"/>
          <p:cNvSpPr>
            <a:spLocks noGrp="1"/>
          </p:cNvSpPr>
          <p:nvPr/>
        </p:nvSpPr>
        <p:spPr>
          <a:xfrm>
            <a:off x="857250" y="2095500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ExperimentSpec</a:t>
            </a:r>
            <a:endParaRPr sz="1125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integ-exp-body"/>
          <p:cNvSpPr>
            <a:spLocks noGrp="1"/>
          </p:cNvSpPr>
          <p:nvPr/>
        </p:nvSpPr>
        <p:spPr>
          <a:xfrm>
            <a:off x="857250" y="23812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trace × config × repeats</a:t>
            </a:r>
            <a:endParaRPr sz="90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integ-run"/>
          <p:cNvSpPr>
            <a:spLocks noGrp="1"/>
          </p:cNvSpPr>
          <p:nvPr/>
        </p:nvSpPr>
        <p:spPr>
          <a:xfrm>
            <a:off x="3257550" y="1924050"/>
            <a:ext cx="2095500" cy="742950"/>
          </a:xfrm>
          <a:prstGeom prst="roundRect">
            <a:avLst>
              <a:gd name="adj" fmla="val 20513"/>
            </a:avLst>
          </a:prstGeom>
          <a:solidFill>
            <a:srgbClr val="EAF0FF"/>
          </a:solidFill>
          <a:ln w="9525">
            <a:solidFill>
              <a:srgbClr val="BFD3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integ-run-title"/>
          <p:cNvSpPr>
            <a:spLocks noGrp="1"/>
          </p:cNvSpPr>
          <p:nvPr/>
        </p:nvSpPr>
        <p:spPr>
          <a:xfrm>
            <a:off x="3429000" y="2095500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RunArtifact</a:t>
            </a:r>
            <a:endParaRPr sz="1125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integ-run-body"/>
          <p:cNvSpPr>
            <a:spLocks noGrp="1"/>
          </p:cNvSpPr>
          <p:nvPr/>
        </p:nvSpPr>
        <p:spPr>
          <a:xfrm>
            <a:off x="3429000" y="23812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run_id + logs + metrics</a:t>
            </a:r>
            <a:endParaRPr sz="90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integ-metric"/>
          <p:cNvSpPr>
            <a:spLocks noGrp="1"/>
          </p:cNvSpPr>
          <p:nvPr/>
        </p:nvSpPr>
        <p:spPr>
          <a:xfrm>
            <a:off x="5829300" y="1924050"/>
            <a:ext cx="2381250" cy="742950"/>
          </a:xfrm>
          <a:prstGeom prst="roundRect">
            <a:avLst>
              <a:gd name="adj" fmla="val 20513"/>
            </a:avLst>
          </a:prstGeom>
          <a:solidFill>
            <a:srgbClr val="E8F7F4"/>
          </a:solidFill>
          <a:ln w="9525">
            <a:solidFill>
              <a:srgbClr val="BCE7D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integ-metric-title"/>
          <p:cNvSpPr>
            <a:spLocks noGrp="1"/>
          </p:cNvSpPr>
          <p:nvPr/>
        </p:nvSpPr>
        <p:spPr>
          <a:xfrm>
            <a:off x="6000750" y="2095500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0F76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MetricRecord</a:t>
            </a:r>
            <a:endParaRPr sz="1125" b="1">
              <a:solidFill>
                <a:srgbClr val="0F76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integ-metric-body"/>
          <p:cNvSpPr>
            <a:spLocks noGrp="1"/>
          </p:cNvSpPr>
          <p:nvPr/>
        </p:nvSpPr>
        <p:spPr>
          <a:xfrm>
            <a:off x="6000750" y="23812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scope + metric_id + value</a:t>
            </a:r>
            <a:endParaRPr sz="90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integ-report"/>
          <p:cNvSpPr>
            <a:spLocks noGrp="1"/>
          </p:cNvSpPr>
          <p:nvPr/>
        </p:nvSpPr>
        <p:spPr>
          <a:xfrm>
            <a:off x="8686800" y="1924050"/>
            <a:ext cx="2819400" cy="742950"/>
          </a:xfrm>
          <a:prstGeom prst="roundRect">
            <a:avLst>
              <a:gd name="adj" fmla="val 20513"/>
            </a:avLst>
          </a:prstGeom>
          <a:solidFill>
            <a:srgbClr val="FFF1E7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integ-report-title"/>
          <p:cNvSpPr>
            <a:spLocks noGrp="1"/>
          </p:cNvSpPr>
          <p:nvPr/>
        </p:nvSpPr>
        <p:spPr>
          <a:xfrm>
            <a:off x="8858250" y="20955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ReportBuilder</a:t>
            </a:r>
            <a:endParaRPr sz="1125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integ-report-body"/>
          <p:cNvSpPr>
            <a:spLocks noGrp="1"/>
          </p:cNvSpPr>
          <p:nvPr/>
        </p:nvSpPr>
        <p:spPr>
          <a:xfrm>
            <a:off x="8858250" y="23812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table + chart + summary</a:t>
            </a:r>
            <a:endParaRPr sz="900" b="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integ-arrow-0"/>
          <p:cNvSpPr>
            <a:spLocks noGrp="1"/>
          </p:cNvSpPr>
          <p:nvPr/>
        </p:nvSpPr>
        <p:spPr>
          <a:xfrm>
            <a:off x="2800350" y="2114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6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integ-arrow-1"/>
          <p:cNvSpPr>
            <a:spLocks noGrp="1"/>
          </p:cNvSpPr>
          <p:nvPr/>
        </p:nvSpPr>
        <p:spPr>
          <a:xfrm>
            <a:off x="5372100" y="2114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6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integ-arrow-2"/>
          <p:cNvSpPr>
            <a:spLocks noGrp="1"/>
          </p:cNvSpPr>
          <p:nvPr/>
        </p:nvSpPr>
        <p:spPr>
          <a:xfrm>
            <a:off x="8210550" y="2114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65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integ-registry"/>
          <p:cNvSpPr>
            <a:spLocks noGrp="1"/>
          </p:cNvSpPr>
          <p:nvPr/>
        </p:nvSpPr>
        <p:spPr>
          <a:xfrm>
            <a:off x="1752600" y="3200400"/>
            <a:ext cx="3429000" cy="704850"/>
          </a:xfrm>
          <a:prstGeom prst="roundRect">
            <a:avLst>
              <a:gd name="adj" fmla="val 21622"/>
            </a:avLst>
          </a:prstGeom>
          <a:solidFill>
            <a:srgbClr val="F1EAFE"/>
          </a:solidFill>
          <a:ln w="9525">
            <a:solidFill>
              <a:srgbClr val="DDD6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integ-registry-title"/>
          <p:cNvSpPr>
            <a:spLocks noGrp="1"/>
          </p:cNvSpPr>
          <p:nvPr/>
        </p:nvSpPr>
        <p:spPr>
          <a:xfrm>
            <a:off x="1943100" y="33528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MetricRegistry</a:t>
            </a:r>
            <a:endParaRPr sz="1050" b="1">
              <a:solidFill>
                <a:srgbClr val="6D28D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integ-registry-body"/>
          <p:cNvSpPr>
            <a:spLocks noGrp="1"/>
          </p:cNvSpPr>
          <p:nvPr/>
        </p:nvSpPr>
        <p:spPr>
          <a:xfrm>
            <a:off x="1943100" y="36385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定义注册与校验</a:t>
            </a:r>
            <a:endParaRPr sz="90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integ-timing"/>
          <p:cNvSpPr>
            <a:spLocks noGrp="1"/>
          </p:cNvSpPr>
          <p:nvPr/>
        </p:nvSpPr>
        <p:spPr>
          <a:xfrm>
            <a:off x="5905500" y="3200400"/>
            <a:ext cx="3429000" cy="704850"/>
          </a:xfrm>
          <a:prstGeom prst="roundRect">
            <a:avLst>
              <a:gd name="adj" fmla="val 21622"/>
            </a:avLst>
          </a:prstGeom>
          <a:solidFill>
            <a:srgbClr val="F1EAFE"/>
          </a:solidFill>
          <a:ln w="9525">
            <a:solidFill>
              <a:srgbClr val="DDD6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integ-timing-title"/>
          <p:cNvSpPr>
            <a:spLocks noGrp="1"/>
          </p:cNvSpPr>
          <p:nvPr/>
        </p:nvSpPr>
        <p:spPr>
          <a:xfrm>
            <a:off x="6096000" y="33528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6D28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PrefetchArbiter</a:t>
            </a:r>
            <a:endParaRPr sz="1050" b="1">
              <a:solidFill>
                <a:srgbClr val="6D28D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integ-timing-body"/>
          <p:cNvSpPr>
            <a:spLocks noGrp="1"/>
          </p:cNvSpPr>
          <p:nvPr/>
        </p:nvSpPr>
        <p:spPr>
          <a:xfrm>
            <a:off x="6096000" y="36385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候选选择 → 预取请求</a:t>
            </a:r>
            <a:endParaRPr sz="90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integ-down-0"/>
          <p:cNvSpPr>
            <a:spLocks noGrp="1"/>
          </p:cNvSpPr>
          <p:nvPr/>
        </p:nvSpPr>
        <p:spPr>
          <a:xfrm>
            <a:off x="3105150" y="28575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↑ 提供定义</a:t>
            </a:r>
            <a:endParaRPr sz="900" b="0">
              <a:solidFill>
                <a:srgbClr val="6D28D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integ-down-1"/>
          <p:cNvSpPr>
            <a:spLocks noGrp="1"/>
          </p:cNvSpPr>
          <p:nvPr/>
        </p:nvSpPr>
        <p:spPr>
          <a:xfrm>
            <a:off x="6972300" y="28575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↑ 提供候选与仲裁结果</a:t>
            </a:r>
            <a:endParaRPr sz="900" b="0">
              <a:solidFill>
                <a:srgbClr val="6D28D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integ-boundary"/>
          <p:cNvSpPr>
            <a:spLocks noGrp="1"/>
          </p:cNvSpPr>
          <p:nvPr/>
        </p:nvSpPr>
        <p:spPr>
          <a:xfrm>
            <a:off x="685800" y="4286250"/>
            <a:ext cx="108204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integ-boundary-title"/>
          <p:cNvSpPr>
            <a:spLocks noGrp="1"/>
          </p:cNvSpPr>
          <p:nvPr/>
        </p:nvSpPr>
        <p:spPr>
          <a:xfrm>
            <a:off x="914400" y="4476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跨扩展点的统一约束</a:t>
            </a:r>
            <a:endParaRPr sz="13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integ-boundary-body"/>
          <p:cNvSpPr>
            <a:spLocks noGrp="1"/>
          </p:cNvSpPr>
          <p:nvPr/>
        </p:nvSpPr>
        <p:spPr>
          <a:xfrm>
            <a:off x="914400" y="483870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run_id 负责串联一次运行；metric_id 负责串联一次观测；schema_version 负责约束语义变化。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4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· 测试、验收标准与风险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4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测试策略：先测边界，再测组合，最后测可复现性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4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4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85800" y="1790700"/>
          <a:ext cx="10820400" cy="3733800"/>
        </p:xfrm>
        <a:graphic>
          <a:graphicData uri="http://schemas.openxmlformats.org/drawingml/2006/table">
            <a:tbl>
              <a:tblPr firstRow="1" bandRow="1"/>
              <a:tblGrid>
                <a:gridCol w="1428750"/>
                <a:gridCol w="3429000"/>
                <a:gridCol w="5962650"/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层级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测试对象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代表用例</a:t>
                      </a:r>
                      <a:endParaRPr sz="9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T w="9525">
                      <a:solidFill>
                        <a:srgbClr val="DCE3EC"/>
                      </a:solidFill>
                      <a:prstDash val="solid"/>
                    </a:lnT>
                    <a:lnB w="9525">
                      <a:solidFill>
                        <a:srgbClr val="DCE3EC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单元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MetricDefinition / Record / Registry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重复定义、未知指标、单位缺失、序列化往返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单元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PrefetchArbiter / CandidateBuffer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去重、预算、轮转、候选丢弃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单元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RunMatrix / RunStore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组合展开、run_id 唯一、失败产物保留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集成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结构化指标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默认配置与 next_line 均能生成统一记录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集成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并行实验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多 trace、多配置全部完成且产物齐全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系统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L w="9525">
                      <a:solidFill>
                        <a:srgbClr val="DCE3EC"/>
                      </a:solidFill>
                      <a:prstDash val="solid"/>
                    </a:lnL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自动报告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75" b="0">
                          <a:solidFill>
                            <a:srgbClr val="10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同一批记录重复生成相同表格与图表</a:t>
                      </a:r>
                      <a:endParaRPr sz="975" b="0">
                        <a:solidFill>
                          <a:srgbClr val="10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>
                    <a:lnR w="9525">
                      <a:solidFill>
                        <a:srgbClr val="DCE3EC"/>
                      </a:solidFill>
                      <a:prstDash val="solid"/>
                    </a:lnR>
                    <a:lnB w="9525">
                      <a:solidFill>
                        <a:srgbClr val="DCE3E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st-callout"/>
          <p:cNvSpPr>
            <a:spLocks noGrp="1"/>
          </p:cNvSpPr>
          <p:nvPr/>
        </p:nvSpPr>
        <p:spPr>
          <a:xfrm>
            <a:off x="685800" y="57340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测试覆盖三层：对象边界、跨对象集成、结果可复现。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5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· 验收与风险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5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验收标准与风险：功能正确之外，还要保证可解释和可复现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5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5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14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ccept-card"/>
          <p:cNvSpPr>
            <a:spLocks noGrp="1"/>
          </p:cNvSpPr>
          <p:nvPr/>
        </p:nvSpPr>
        <p:spPr>
          <a:xfrm>
            <a:off x="685800" y="1809750"/>
            <a:ext cx="523875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accept-title"/>
          <p:cNvSpPr>
            <a:spLocks noGrp="1"/>
          </p:cNvSpPr>
          <p:nvPr/>
        </p:nvSpPr>
        <p:spPr>
          <a:xfrm>
            <a:off x="914400" y="2019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0676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验收标准</a:t>
            </a:r>
            <a:endParaRPr sz="1500" b="1">
              <a:solidFill>
                <a:srgbClr val="06764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ccept-items"/>
          <p:cNvSpPr>
            <a:spLocks noGrp="1"/>
          </p:cNvSpPr>
          <p:nvPr/>
        </p:nvSpPr>
        <p:spPr>
          <a:xfrm>
            <a:off x="914400" y="2438400"/>
            <a:ext cx="46863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228600" indent="-114300">
              <a:spcAft>
                <a:spcPts val="1400"/>
              </a:spcAft>
              <a:buChar char="•"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核心仿真行为与原有输出保持一致</a:t>
            </a:r>
            <a:endParaRPr sz="116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400"/>
              </a:spcAft>
              <a:buChar char="•"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每个指标都有单位、作用域和定义</a:t>
            </a:r>
            <a:endParaRPr sz="116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400"/>
              </a:spcAft>
              <a:buChar char="•"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多预取器仲裁覆盖去重、预算和归因</a:t>
            </a:r>
            <a:endParaRPr sz="116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400"/>
              </a:spcAft>
              <a:buChar char="•"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并行实验的每个 run 都有完整产物</a:t>
            </a:r>
            <a:endParaRPr sz="116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spcAft>
                <a:spcPts val="1400"/>
              </a:spcAft>
              <a:buChar char="•"/>
              <a:def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65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报告能从结构化记录重新生成</a:t>
            </a:r>
            <a:endParaRPr sz="1165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risk-card"/>
          <p:cNvSpPr>
            <a:spLocks noGrp="1"/>
          </p:cNvSpPr>
          <p:nvPr/>
        </p:nvSpPr>
        <p:spPr>
          <a:xfrm>
            <a:off x="6267450" y="1809750"/>
            <a:ext cx="523875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isk-title"/>
          <p:cNvSpPr>
            <a:spLocks noGrp="1"/>
          </p:cNvSpPr>
          <p:nvPr/>
        </p:nvSpPr>
        <p:spPr>
          <a:xfrm>
            <a:off x="6496050" y="2019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B4231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风险与应对</a:t>
            </a:r>
            <a:endParaRPr sz="1500" b="1">
              <a:solidFill>
                <a:srgbClr val="B4231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risk-name-0"/>
          <p:cNvSpPr>
            <a:spLocks noGrp="1"/>
          </p:cNvSpPr>
          <p:nvPr/>
        </p:nvSpPr>
        <p:spPr>
          <a:xfrm>
            <a:off x="6496050" y="24574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观测开销</a:t>
            </a:r>
            <a:endParaRPr sz="10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risk-fix-0"/>
          <p:cNvSpPr>
            <a:spLocks noGrp="1"/>
          </p:cNvSpPr>
          <p:nvPr/>
        </p:nvSpPr>
        <p:spPr>
          <a:xfrm>
            <a:off x="7600950" y="24574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埋点可选、按阶段开启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risk-name-1"/>
          <p:cNvSpPr>
            <a:spLocks noGrp="1"/>
          </p:cNvSpPr>
          <p:nvPr/>
        </p:nvSpPr>
        <p:spPr>
          <a:xfrm>
            <a:off x="6496050" y="29718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仲裁冲突</a:t>
            </a:r>
            <a:endParaRPr sz="10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risk-fix-1"/>
          <p:cNvSpPr>
            <a:spLocks noGrp="1"/>
          </p:cNvSpPr>
          <p:nvPr/>
        </p:nvSpPr>
        <p:spPr>
          <a:xfrm>
            <a:off x="7600950" y="29718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去重与预算边界测试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risk-name-2"/>
          <p:cNvSpPr>
            <a:spLocks noGrp="1"/>
          </p:cNvSpPr>
          <p:nvPr/>
        </p:nvSpPr>
        <p:spPr>
          <a:xfrm>
            <a:off x="6496050" y="34861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资源争用</a:t>
            </a:r>
            <a:endParaRPr sz="10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risk-fix-2"/>
          <p:cNvSpPr>
            <a:spLocks noGrp="1"/>
          </p:cNvSpPr>
          <p:nvPr/>
        </p:nvSpPr>
        <p:spPr>
          <a:xfrm>
            <a:off x="7600950" y="3486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进程级并发与资源上限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risk-name-3"/>
          <p:cNvSpPr>
            <a:spLocks noGrp="1"/>
          </p:cNvSpPr>
          <p:nvPr/>
        </p:nvSpPr>
        <p:spPr>
          <a:xfrm>
            <a:off x="6496050" y="4000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schema 漂移</a:t>
            </a:r>
            <a:endParaRPr sz="10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risk-fix-3"/>
          <p:cNvSpPr>
            <a:spLocks noGrp="1"/>
          </p:cNvSpPr>
          <p:nvPr/>
        </p:nvSpPr>
        <p:spPr>
          <a:xfrm>
            <a:off x="7600950" y="40005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版本号、注册校验、兼容读取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risk-name-4"/>
          <p:cNvSpPr>
            <a:spLocks noGrp="1"/>
          </p:cNvSpPr>
          <p:nvPr/>
        </p:nvSpPr>
        <p:spPr>
          <a:xfrm>
            <a:off x="6496050" y="4514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数据不可比</a:t>
            </a:r>
            <a:endParaRPr sz="105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isk-fix-4"/>
          <p:cNvSpPr>
            <a:spLocks noGrp="1"/>
          </p:cNvSpPr>
          <p:nvPr/>
        </p:nvSpPr>
        <p:spPr>
          <a:xfrm>
            <a:off x="7600950" y="4514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比较键与缺失值规则</a:t>
            </a:r>
            <a:endParaRPr sz="10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risk-callout"/>
          <p:cNvSpPr>
            <a:spLocks noGrp="1"/>
          </p:cNvSpPr>
          <p:nvPr/>
        </p:nvSpPr>
        <p:spPr>
          <a:xfrm>
            <a:off x="685800" y="57340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风险控制的目标不是避免所有问题，而是让问题可见、可定位、可重跑。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" name="eyebrow-16"/>
          <p:cNvSpPr>
            <a:spLocks noGrp="1"/>
          </p:cNvSpPr>
          <p:nvPr/>
        </p:nvSpPr>
        <p:spPr>
          <a:xfrm>
            <a:off x="685800" y="3238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0">
            <a:solidFill>
              <a:srgbClr val="FFF1E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· 实施计划与交付物</a:t>
            </a:r>
            <a:endParaRPr sz="9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itle-16"/>
          <p:cNvSpPr>
            <a:spLocks noGrp="1"/>
          </p:cNvSpPr>
          <p:nvPr/>
        </p:nvSpPr>
        <p:spPr>
          <a:xfrm>
            <a:off x="685800" y="7239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实施计划与交付物：按依赖关系推进五个阶段</a:t>
            </a:r>
            <a:endParaRPr sz="2400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ooter-left-16"/>
          <p:cNvSpPr>
            <a:spLocks noGrp="1"/>
          </p:cNvSpPr>
          <p:nvPr/>
        </p:nvSpPr>
        <p:spPr>
          <a:xfrm>
            <a:off x="685800" y="6419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ChampSim 扩展方案 · 系统分析与设计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footer-right-16"/>
          <p:cNvSpPr>
            <a:spLocks noGrp="1"/>
          </p:cNvSpPr>
          <p:nvPr/>
        </p:nvSpPr>
        <p:spPr>
          <a:xfrm>
            <a:off x="10820400" y="64198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825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15 / 16</a:t>
            </a:r>
            <a:endParaRPr sz="825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plan-card-0"/>
          <p:cNvSpPr>
            <a:spLocks noGrp="1"/>
          </p:cNvSpPr>
          <p:nvPr/>
        </p:nvSpPr>
        <p:spPr>
          <a:xfrm>
            <a:off x="685800" y="1790700"/>
            <a:ext cx="198120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plan-week-0"/>
          <p:cNvSpPr>
            <a:spLocks noGrp="1"/>
          </p:cNvSpPr>
          <p:nvPr/>
        </p:nvSpPr>
        <p:spPr>
          <a:xfrm>
            <a:off x="857250" y="19812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0 周</a:t>
            </a:r>
            <a:endParaRPr sz="90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plan-title-0"/>
          <p:cNvSpPr>
            <a:spLocks noGrp="1"/>
          </p:cNvSpPr>
          <p:nvPr/>
        </p:nvSpPr>
        <p:spPr>
          <a:xfrm>
            <a:off x="857250" y="2266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代码定位</a:t>
            </a:r>
            <a:endParaRPr sz="12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plan-body-0"/>
          <p:cNvSpPr>
            <a:spLocks noGrp="1"/>
          </p:cNvSpPr>
          <p:nvPr/>
        </p:nvSpPr>
        <p:spPr>
          <a:xfrm>
            <a:off x="857250" y="26479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梳理 module / channel / stats 插入点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plan-arrow-0"/>
          <p:cNvSpPr>
            <a:spLocks noGrp="1"/>
          </p:cNvSpPr>
          <p:nvPr/>
        </p:nvSpPr>
        <p:spPr>
          <a:xfrm>
            <a:off x="2686050" y="24193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2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plan-card-1"/>
          <p:cNvSpPr>
            <a:spLocks noGrp="1"/>
          </p:cNvSpPr>
          <p:nvPr/>
        </p:nvSpPr>
        <p:spPr>
          <a:xfrm>
            <a:off x="2838450" y="1790700"/>
            <a:ext cx="198120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plan-week-1"/>
          <p:cNvSpPr>
            <a:spLocks noGrp="1"/>
          </p:cNvSpPr>
          <p:nvPr/>
        </p:nvSpPr>
        <p:spPr>
          <a:xfrm>
            <a:off x="3009900" y="19812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1 周</a:t>
            </a:r>
            <a:endParaRPr sz="90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plan-title-1"/>
          <p:cNvSpPr>
            <a:spLocks noGrp="1"/>
          </p:cNvSpPr>
          <p:nvPr/>
        </p:nvSpPr>
        <p:spPr>
          <a:xfrm>
            <a:off x="3009900" y="2266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指标模型</a:t>
            </a:r>
            <a:endParaRPr sz="12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plan-body-1"/>
          <p:cNvSpPr>
            <a:spLocks noGrp="1"/>
          </p:cNvSpPr>
          <p:nvPr/>
        </p:nvSpPr>
        <p:spPr>
          <a:xfrm>
            <a:off x="3009900" y="26479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Definition / Record / Registry / Sink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plan-arrow-1"/>
          <p:cNvSpPr>
            <a:spLocks noGrp="1"/>
          </p:cNvSpPr>
          <p:nvPr/>
        </p:nvSpPr>
        <p:spPr>
          <a:xfrm>
            <a:off x="4838700" y="24193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2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plan-card-2"/>
          <p:cNvSpPr>
            <a:spLocks noGrp="1"/>
          </p:cNvSpPr>
          <p:nvPr/>
        </p:nvSpPr>
        <p:spPr>
          <a:xfrm>
            <a:off x="4991100" y="1790700"/>
            <a:ext cx="198120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plan-week-2"/>
          <p:cNvSpPr>
            <a:spLocks noGrp="1"/>
          </p:cNvSpPr>
          <p:nvPr/>
        </p:nvSpPr>
        <p:spPr>
          <a:xfrm>
            <a:off x="5162550" y="19812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2 周</a:t>
            </a:r>
            <a:endParaRPr sz="90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plan-title-2"/>
          <p:cNvSpPr>
            <a:spLocks noGrp="1"/>
          </p:cNvSpPr>
          <p:nvPr/>
        </p:nvSpPr>
        <p:spPr>
          <a:xfrm>
            <a:off x="5162550" y="2266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多预取器仲裁</a:t>
            </a:r>
            <a:endParaRPr sz="12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plan-body-2"/>
          <p:cNvSpPr>
            <a:spLocks noGrp="1"/>
          </p:cNvSpPr>
          <p:nvPr/>
        </p:nvSpPr>
        <p:spPr>
          <a:xfrm>
            <a:off x="5162550" y="26479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候选队列、去重与预算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plan-arrow-2"/>
          <p:cNvSpPr>
            <a:spLocks noGrp="1"/>
          </p:cNvSpPr>
          <p:nvPr/>
        </p:nvSpPr>
        <p:spPr>
          <a:xfrm>
            <a:off x="6991350" y="24193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2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plan-card-3"/>
          <p:cNvSpPr>
            <a:spLocks noGrp="1"/>
          </p:cNvSpPr>
          <p:nvPr/>
        </p:nvSpPr>
        <p:spPr>
          <a:xfrm>
            <a:off x="7143750" y="1790700"/>
            <a:ext cx="198120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plan-week-3"/>
          <p:cNvSpPr>
            <a:spLocks noGrp="1"/>
          </p:cNvSpPr>
          <p:nvPr/>
        </p:nvSpPr>
        <p:spPr>
          <a:xfrm>
            <a:off x="7315200" y="19812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2563E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3 周</a:t>
            </a:r>
            <a:endParaRPr sz="900" b="1">
              <a:solidFill>
                <a:srgbClr val="2563E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plan-title-3"/>
          <p:cNvSpPr>
            <a:spLocks noGrp="1"/>
          </p:cNvSpPr>
          <p:nvPr/>
        </p:nvSpPr>
        <p:spPr>
          <a:xfrm>
            <a:off x="7315200" y="2266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并行实验</a:t>
            </a:r>
            <a:endParaRPr sz="12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plan-body-3"/>
          <p:cNvSpPr>
            <a:spLocks noGrp="1"/>
          </p:cNvSpPr>
          <p:nvPr/>
        </p:nvSpPr>
        <p:spPr>
          <a:xfrm>
            <a:off x="7315200" y="26479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RunMatrix、WorkerPool、RunStore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plan-arrow-3"/>
          <p:cNvSpPr>
            <a:spLocks noGrp="1"/>
          </p:cNvSpPr>
          <p:nvPr/>
        </p:nvSpPr>
        <p:spPr>
          <a:xfrm>
            <a:off x="9144000" y="2419350"/>
            <a:ext cx="13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endParaRPr sz="1200" b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plan-card-4"/>
          <p:cNvSpPr>
            <a:spLocks noGrp="1"/>
          </p:cNvSpPr>
          <p:nvPr/>
        </p:nvSpPr>
        <p:spPr>
          <a:xfrm>
            <a:off x="9296400" y="1790700"/>
            <a:ext cx="1981200" cy="1543050"/>
          </a:xfrm>
          <a:prstGeom prst="roundRect">
            <a:avLst>
              <a:gd name="adj" fmla="val 9877"/>
            </a:avLst>
          </a:prstGeom>
          <a:solidFill>
            <a:srgbClr val="FFF1E7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plan-week-4"/>
          <p:cNvSpPr>
            <a:spLocks noGrp="1"/>
          </p:cNvSpPr>
          <p:nvPr/>
        </p:nvSpPr>
        <p:spPr>
          <a:xfrm>
            <a:off x="9467850" y="19812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buNone/>
              <a:def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1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4 周</a:t>
            </a:r>
            <a:endParaRPr sz="900" b="1">
              <a:solidFill>
                <a:srgbClr val="F9731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plan-title-4"/>
          <p:cNvSpPr>
            <a:spLocks noGrp="1"/>
          </p:cNvSpPr>
          <p:nvPr/>
        </p:nvSpPr>
        <p:spPr>
          <a:xfrm>
            <a:off x="9467850" y="2266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自动报告</a:t>
            </a:r>
            <a:endParaRPr sz="127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plan-body-4"/>
          <p:cNvSpPr>
            <a:spLocks noGrp="1"/>
          </p:cNvSpPr>
          <p:nvPr/>
        </p:nvSpPr>
        <p:spPr>
          <a:xfrm>
            <a:off x="9467850" y="26479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比较、图表、报告与集成测试</a:t>
            </a:r>
            <a:endParaRPr sz="97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deliverable-card"/>
          <p:cNvSpPr>
            <a:spLocks noGrp="1"/>
          </p:cNvSpPr>
          <p:nvPr/>
        </p:nvSpPr>
        <p:spPr>
          <a:xfrm>
            <a:off x="685800" y="3638550"/>
            <a:ext cx="10820400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deliverable-title"/>
          <p:cNvSpPr>
            <a:spLocks noGrp="1"/>
          </p:cNvSpPr>
          <p:nvPr/>
        </p:nvSpPr>
        <p:spPr>
          <a:xfrm>
            <a:off x="914400" y="3829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10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交付物</a:t>
            </a:r>
            <a:endParaRPr sz="1425" b="1">
              <a:solidFill>
                <a:srgbClr val="10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deliverable-0"/>
          <p:cNvSpPr>
            <a:spLocks noGrp="1"/>
          </p:cNvSpPr>
          <p:nvPr/>
        </p:nvSpPr>
        <p:spPr>
          <a:xfrm>
            <a:off x="914400" y="42481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指标模型与 JSONL Sink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deliverable-1"/>
          <p:cNvSpPr>
            <a:spLocks noGrp="1"/>
          </p:cNvSpPr>
          <p:nvPr/>
        </p:nvSpPr>
        <p:spPr>
          <a:xfrm>
            <a:off x="4305300" y="42481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8F7F4"/>
          </a:solidFill>
          <a:ln w="0">
            <a:solidFill>
              <a:srgbClr val="E8F7F4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多预取器仲裁与指标</a:t>
            </a:r>
            <a:endParaRPr sz="9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deliverable-2"/>
          <p:cNvSpPr>
            <a:spLocks noGrp="1"/>
          </p:cNvSpPr>
          <p:nvPr/>
        </p:nvSpPr>
        <p:spPr>
          <a:xfrm>
            <a:off x="7696200" y="42481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并行实验执行器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deliverable-3"/>
          <p:cNvSpPr>
            <a:spLocks noGrp="1"/>
          </p:cNvSpPr>
          <p:nvPr/>
        </p:nvSpPr>
        <p:spPr>
          <a:xfrm>
            <a:off x="914400" y="47434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8F7F4"/>
          </a:solidFill>
          <a:ln w="0">
            <a:solidFill>
              <a:srgbClr val="E8F7F4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RunStore 与 manifest</a:t>
            </a:r>
            <a:endParaRPr sz="9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deliverable-4"/>
          <p:cNvSpPr>
            <a:spLocks noGrp="1"/>
          </p:cNvSpPr>
          <p:nvPr/>
        </p:nvSpPr>
        <p:spPr>
          <a:xfrm>
            <a:off x="4305300" y="47434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0">
            <a:solidFill>
              <a:srgbClr val="EAF0FF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比较、图表与报告</a:t>
            </a:r>
            <a:endParaRPr sz="975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deliverable-5"/>
          <p:cNvSpPr>
            <a:spLocks noGrp="1"/>
          </p:cNvSpPr>
          <p:nvPr/>
        </p:nvSpPr>
        <p:spPr>
          <a:xfrm>
            <a:off x="7696200" y="47434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8F7F4"/>
          </a:solidFill>
          <a:ln w="0">
            <a:solidFill>
              <a:srgbClr val="E8F7F4"/>
            </a:solidFill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测试与文档</a:t>
            </a:r>
            <a:endParaRPr sz="975" b="1">
              <a:solidFill>
                <a:srgbClr val="0F76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plan-callout"/>
          <p:cNvSpPr>
            <a:spLocks noGrp="1"/>
          </p:cNvSpPr>
          <p:nvPr/>
        </p:nvSpPr>
        <p:spPr>
          <a:xfrm>
            <a:off x="685800" y="56578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计划按“观测 → 仲裁 → 实验 → 分析”的依赖顺序推进，每一步都可独立验收。</a:t>
            </a:r>
            <a:endParaRPr sz="1200" b="1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4849</Words>
  <Application>WPS 演示</Application>
  <PresentationFormat>Converted Presentation</PresentationFormat>
  <Paragraphs>705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Noto Sans SC</vt:lpstr>
      <vt:lpstr>Consolas</vt:lpstr>
      <vt:lpstr>微软雅黑</vt:lpstr>
      <vt:lpstr>Arial Unicode MS</vt:lpstr>
      <vt:lpstr>Aptos</vt:lpstr>
      <vt:lpstr>Segoe UI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Insomnia</cp:lastModifiedBy>
  <cp:revision>1</cp:revision>
  <dcterms:created xsi:type="dcterms:W3CDTF">2026-10-23T03:36:18Z</dcterms:created>
  <dcterms:modified xsi:type="dcterms:W3CDTF">2026-10-23T03:36:18Z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87BCBFC0DD614FD5A89A0516AE9FA963_12</vt:lpwstr>
  </property>
  <property fmtid="{D5CDD505-2E9C-101B-9397-08002B2CF9AE}" pid="3" name="KSOProductBuildVer">
    <vt:lpwstr>2052-12.1.0.29161</vt:lpwstr>
  </property>
</Properties>
</file>